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53700C-794D-4932-B921-55B6E3AB20D6}">
  <a:tblStyle styleId="{3A53700C-794D-4932-B921-55B6E3AB20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e5dd6fec14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e5dd6fec14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First of all, what is </a:t>
            </a:r>
            <a:r>
              <a:rPr lang="it">
                <a:solidFill>
                  <a:schemeClr val="dk1"/>
                </a:solidFill>
              </a:rPr>
              <a:t>Visual place recognition</a:t>
            </a:r>
            <a:r>
              <a:rPr lang="it"/>
              <a:t>?</a:t>
            </a:r>
            <a:br>
              <a:rPr lang="it"/>
            </a:br>
            <a:r>
              <a:rPr lang="it"/>
              <a:t>VPR is the task of </a:t>
            </a:r>
            <a:r>
              <a:rPr lang="it"/>
              <a:t>understanding</a:t>
            </a:r>
            <a:r>
              <a:rPr lang="it"/>
              <a:t> where a picture was taken using only its visual contents</a:t>
            </a:r>
            <a:endParaRPr/>
          </a:p>
          <a:p>
            <a:pPr indent="0" lvl="0" marL="0" rtl="0" algn="l">
              <a:spcBef>
                <a:spcPts val="0"/>
              </a:spcBef>
              <a:spcAft>
                <a:spcPts val="0"/>
              </a:spcAft>
              <a:buNone/>
            </a:pPr>
            <a:r>
              <a:rPr lang="it"/>
              <a:t>This is done by turning the image into a descriptor and comparing it with a database to find the most similar candidate</a:t>
            </a:r>
            <a:endParaRPr/>
          </a:p>
          <a:p>
            <a:pPr indent="0" lvl="0" marL="0" rtl="0" algn="l">
              <a:spcBef>
                <a:spcPts val="0"/>
              </a:spcBef>
              <a:spcAft>
                <a:spcPts val="0"/>
              </a:spcAft>
              <a:buNone/>
            </a:pPr>
            <a:r>
              <a:rPr lang="it"/>
              <a:t>Critical in a variety of real word tasks such us mapping, robotics amd self driving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5dd6fec14_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5dd6fec14_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As we can see from the diagram these are the main blocks that compose any VPR task</a:t>
            </a:r>
            <a:endParaRPr/>
          </a:p>
          <a:p>
            <a:pPr indent="0" lvl="0" marL="0" rtl="0" algn="l">
              <a:spcBef>
                <a:spcPts val="0"/>
              </a:spcBef>
              <a:spcAft>
                <a:spcPts val="0"/>
              </a:spcAft>
              <a:buNone/>
            </a:pPr>
            <a:r>
              <a:rPr lang="it"/>
              <a:t>The first half is the retrieval part where the most likely </a:t>
            </a:r>
            <a:r>
              <a:rPr lang="it"/>
              <a:t>candidate for our prediction</a:t>
            </a:r>
            <a:r>
              <a:rPr lang="it"/>
              <a:t> is found </a:t>
            </a:r>
            <a:r>
              <a:rPr lang="it"/>
              <a:t>through</a:t>
            </a:r>
            <a:r>
              <a:rPr lang="it"/>
              <a:t> a </a:t>
            </a:r>
            <a:r>
              <a:rPr lang="it"/>
              <a:t>similarity</a:t>
            </a:r>
            <a:r>
              <a:rPr lang="it"/>
              <a:t> search</a:t>
            </a:r>
            <a:endParaRPr/>
          </a:p>
          <a:p>
            <a:pPr indent="0" lvl="0" marL="0" rtl="0" algn="l">
              <a:spcBef>
                <a:spcPts val="0"/>
              </a:spcBef>
              <a:spcAft>
                <a:spcPts val="0"/>
              </a:spcAft>
              <a:buNone/>
            </a:pPr>
            <a:r>
              <a:rPr lang="it"/>
              <a:t>Then in the second half, the refinement step, the results of the </a:t>
            </a:r>
            <a:r>
              <a:rPr lang="it"/>
              <a:t>retrieval</a:t>
            </a:r>
            <a:r>
              <a:rPr lang="it"/>
              <a:t> part can undergo an optional re-ranking thanks to image matching models to better the prediction</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dd6fec14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5dd6fec14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go a bit more in depth on the </a:t>
            </a:r>
            <a:r>
              <a:rPr lang="it"/>
              <a:t>retrieval</a:t>
            </a:r>
            <a:r>
              <a:rPr lang="it"/>
              <a:t> part the main models we used are netvlad, cosplace, mixvpr and megaloc</a:t>
            </a:r>
            <a:endParaRPr/>
          </a:p>
          <a:p>
            <a:pPr indent="0" lvl="0" marL="0" rtl="0" algn="l">
              <a:spcBef>
                <a:spcPts val="0"/>
              </a:spcBef>
              <a:spcAft>
                <a:spcPts val="0"/>
              </a:spcAft>
              <a:buNone/>
            </a:pPr>
            <a:r>
              <a:rPr lang="it"/>
              <a:t>For the similarity search the most common algorithm is a k nearest neighborhood search, in our case </a:t>
            </a:r>
            <a:r>
              <a:rPr lang="it"/>
              <a:t>implemented</a:t>
            </a:r>
            <a:r>
              <a:rPr lang="it"/>
              <a:t> using an l2 </a:t>
            </a:r>
            <a:r>
              <a:rPr lang="it"/>
              <a:t>distance</a:t>
            </a:r>
            <a:r>
              <a:rPr lang="it"/>
              <a:t> </a:t>
            </a:r>
            <a:r>
              <a:rPr lang="it"/>
              <a:t>metric.</a:t>
            </a:r>
            <a:endParaRPr/>
          </a:p>
          <a:p>
            <a:pPr indent="0" lvl="0" marL="0" rtl="0" algn="l">
              <a:spcBef>
                <a:spcPts val="0"/>
              </a:spcBef>
              <a:spcAft>
                <a:spcPts val="0"/>
              </a:spcAft>
              <a:buNone/>
            </a:pPr>
            <a:r>
              <a:rPr lang="it"/>
              <a:t>These vpr methods obtain result fast and efficiently however lack geometric awareness of the </a:t>
            </a:r>
            <a:r>
              <a:rPr lang="it"/>
              <a:t>environment</a:t>
            </a:r>
            <a:r>
              <a:rPr lang="it"/>
              <a:t> so they might confuse similar but different places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5dd6fec14_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5dd6fec14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Then comes the refinements step where we used superglue, loftr and superpoint+lightglue as our matchers. Their job is to apply a local feature matching on the top-k candidates to find inliers, </a:t>
            </a:r>
            <a:r>
              <a:rPr lang="it"/>
              <a:t>feature</a:t>
            </a:r>
            <a:r>
              <a:rPr lang="it"/>
              <a:t> that survive geometric post processing to find matching keypoints such as road sign viewed from </a:t>
            </a:r>
            <a:r>
              <a:rPr lang="it"/>
              <a:t>different</a:t>
            </a:r>
            <a:r>
              <a:rPr lang="it"/>
              <a:t> perspectives</a:t>
            </a:r>
            <a:endParaRPr/>
          </a:p>
          <a:p>
            <a:pPr indent="0" lvl="0" marL="0" rtl="0" algn="l">
              <a:spcBef>
                <a:spcPts val="0"/>
              </a:spcBef>
              <a:spcAft>
                <a:spcPts val="0"/>
              </a:spcAft>
              <a:buNone/>
            </a:pPr>
            <a:r>
              <a:rPr lang="it"/>
              <a:t>This makes the prediction a lot more accurate but introduces a considerable computational bottleneck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5dd6fec14_6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5dd6fec14_6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Here we can see a table summarizing our analysis, for each vpr method and method/matcher </a:t>
            </a:r>
            <a:r>
              <a:rPr lang="it"/>
              <a:t>combination</a:t>
            </a:r>
            <a:r>
              <a:rPr lang="it"/>
              <a:t> we calculated the recall at N on different datasets</a:t>
            </a:r>
            <a:endParaRPr/>
          </a:p>
          <a:p>
            <a:pPr indent="0" lvl="0" marL="0" rtl="0" algn="l">
              <a:spcBef>
                <a:spcPts val="0"/>
              </a:spcBef>
              <a:spcAft>
                <a:spcPts val="0"/>
              </a:spcAft>
              <a:buNone/>
            </a:pPr>
            <a:r>
              <a:rPr lang="it"/>
              <a:t>The recall at N is a </a:t>
            </a:r>
            <a:r>
              <a:rPr lang="it"/>
              <a:t>useful metric when evaluating vpr models that represents the percentage of queries where at least one prediction in the top-n was found to be within a defined threshold distance from the ground truth location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5dd6fec14_6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5dd6fec14_6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main takeaways that we can deduce from our experiments are as follows</a:t>
            </a:r>
            <a:br>
              <a:rPr lang="it"/>
            </a:br>
            <a:r>
              <a:rPr lang="it"/>
              <a:t>First of all the effectiveness of reranking, we can see, for example, how the recall of cosplace rises when matched with loftr</a:t>
            </a:r>
            <a:endParaRPr/>
          </a:p>
          <a:p>
            <a:pPr indent="0" lvl="0" marL="0" rtl="0" algn="l">
              <a:spcBef>
                <a:spcPts val="0"/>
              </a:spcBef>
              <a:spcAft>
                <a:spcPts val="0"/>
              </a:spcAft>
              <a:buNone/>
            </a:pPr>
            <a:r>
              <a:rPr lang="it"/>
              <a:t>Secondly is the additional time required by the matcher to process a single query- in order we can see loftr, superglue and sp+lg</a:t>
            </a:r>
            <a:endParaRPr/>
          </a:p>
          <a:p>
            <a:pPr indent="0" lvl="0" marL="0" rtl="0" algn="l">
              <a:spcBef>
                <a:spcPts val="0"/>
              </a:spcBef>
              <a:spcAft>
                <a:spcPts val="0"/>
              </a:spcAft>
              <a:buNone/>
            </a:pPr>
            <a:r>
              <a:rPr lang="it"/>
              <a:t>Thirdly we con observe that an already powerful model like megaloc doesn’t really benefit by using image matching</a:t>
            </a:r>
            <a:endParaRPr/>
          </a:p>
          <a:p>
            <a:pPr indent="0" lvl="0" marL="0" rtl="0" algn="l">
              <a:spcBef>
                <a:spcPts val="0"/>
              </a:spcBef>
              <a:spcAft>
                <a:spcPts val="0"/>
              </a:spcAft>
              <a:buNone/>
            </a:pPr>
            <a:r>
              <a:rPr lang="it"/>
              <a:t>And lastly the </a:t>
            </a:r>
            <a:r>
              <a:rPr lang="it"/>
              <a:t>difference</a:t>
            </a:r>
            <a:r>
              <a:rPr lang="it"/>
              <a:t> in the recalls from differents datasets, on the right we have svox sun and on the left svox night that present, as the name suggests quite different lighting </a:t>
            </a:r>
            <a:r>
              <a:rPr lang="it"/>
              <a:t>conditions</a:t>
            </a:r>
            <a:endParaRPr/>
          </a:p>
          <a:p>
            <a:pPr indent="0" lvl="0" marL="0" rtl="0" algn="l">
              <a:spcBef>
                <a:spcPts val="0"/>
              </a:spcBef>
              <a:spcAft>
                <a:spcPts val="0"/>
              </a:spcAft>
              <a:buNone/>
            </a:pPr>
            <a:r>
              <a:rPr lang="it"/>
              <a:t>So, as we can see reranking is incredibly useful but quite expensive and most of all not always necessary</a:t>
            </a:r>
            <a:endParaRPr/>
          </a:p>
          <a:p>
            <a:pPr indent="0" lvl="0" marL="0" rtl="0" algn="l">
              <a:spcBef>
                <a:spcPts val="0"/>
              </a:spcBef>
              <a:spcAft>
                <a:spcPts val="0"/>
              </a:spcAft>
              <a:buNone/>
            </a:pPr>
            <a:r>
              <a:rPr lang="it"/>
              <a:t>these results made us </a:t>
            </a:r>
            <a:r>
              <a:rPr lang="it"/>
              <a:t>aware that implementing a strategy where reranking is applied only when needed would be quite beneficial to any vpr task</a:t>
            </a:r>
            <a:endParaRPr/>
          </a:p>
          <a:p>
            <a:pPr indent="0" lvl="0" marL="0" rtl="0" algn="l">
              <a:spcBef>
                <a:spcPts val="0"/>
              </a:spcBef>
              <a:spcAft>
                <a:spcPts val="0"/>
              </a:spcAft>
              <a:buNone/>
            </a:pPr>
            <a:r>
              <a:rPr lang="it"/>
              <a:t>And now my colleague Leonardo will show you exactly how.</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5dd6fec14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5dd6fec14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address this performance-efficiency trade-off, we propose an adaptive re-ranking strategy. The core principle is to use the number of geometric inliers as a reliable confidence signal. If a query shows a high inlier count relative to the general distribution, we classify it as "easy" and safely bypass the expensive geometric verification. Conversely, queries with low inlier counts are marked as "hard" and proceed to full re-ranking. Our pipeline is organized into four logical stages:</a:t>
            </a:r>
            <a:endParaRPr/>
          </a:p>
          <a:p>
            <a:pPr indent="0" lvl="0" marL="0" rtl="0" algn="l">
              <a:spcBef>
                <a:spcPts val="0"/>
              </a:spcBef>
              <a:spcAft>
                <a:spcPts val="0"/>
              </a:spcAft>
              <a:buNone/>
            </a:pPr>
            <a:r>
              <a:rPr lang="it"/>
              <a:t>● Inliers Analysis: where we aggregate statistics to characterize the relationship between inlier counts and retrieval correctness.</a:t>
            </a:r>
            <a:endParaRPr/>
          </a:p>
          <a:p>
            <a:pPr indent="0" lvl="0" marL="0" rtl="0" algn="l">
              <a:spcBef>
                <a:spcPts val="0"/>
              </a:spcBef>
              <a:spcAft>
                <a:spcPts val="0"/>
              </a:spcAft>
              <a:buNone/>
            </a:pPr>
            <a:r>
              <a:rPr lang="it"/>
              <a:t>● Logistic Regression: the training phase where we use Logistic regressors to map inlier counts to a probability score. </a:t>
            </a:r>
            <a:endParaRPr/>
          </a:p>
          <a:p>
            <a:pPr indent="0" lvl="0" marL="0" rtl="0" algn="l">
              <a:spcBef>
                <a:spcPts val="0"/>
              </a:spcBef>
              <a:spcAft>
                <a:spcPts val="0"/>
              </a:spcAft>
              <a:buNone/>
            </a:pPr>
            <a:r>
              <a:rPr lang="it"/>
              <a:t>● Threshold Validation: where we identify the optimal probability cut-off to balance accuracy and efficiency. </a:t>
            </a:r>
            <a:endParaRPr/>
          </a:p>
          <a:p>
            <a:pPr indent="0" lvl="0" marL="0" rtl="0" algn="l">
              <a:spcBef>
                <a:spcPts val="0"/>
              </a:spcBef>
              <a:spcAft>
                <a:spcPts val="0"/>
              </a:spcAft>
              <a:buNone/>
            </a:pPr>
            <a:r>
              <a:rPr lang="it"/>
              <a:t>● Transfer Analysis: where we evaluate how well these models generalize across different datasets and conditions. </a:t>
            </a:r>
            <a:endParaRPr/>
          </a:p>
          <a:p>
            <a:pPr indent="0" lvl="0" marL="0" rtl="0" algn="l">
              <a:spcBef>
                <a:spcPts val="0"/>
              </a:spcBef>
              <a:spcAft>
                <a:spcPts val="0"/>
              </a:spcAft>
              <a:buNone/>
            </a:pPr>
            <a:r>
              <a:rPr lang="it"/>
              <a:t>For our baseline, we utilize the MixVPR and CosPlace ensemble for retrieval, paired with LoFTR or SuperGlue for matching.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5dd6fec14_8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5dd6fec14_8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Let's begin with the first stage: Inliers Analysis. We aggregated the inlier counts from our training datasets, specifically observing the number of geometric inliers obtained from the top-1 retrieved image. In these histograms, the x-axis represents the number of inliers, while the y-axis shows the frequency of queries. The green bars represent the distribution of correct retrievals, and the red bars represent incorrect ones. As you can see, a clear bimodal separation emerges: incorrect queries consistently cluster at lower inlier counts, while correct queries show a broader distribution at higher values. On average, correct queries exhibit 2 to 3 times more inliers than incorrect ones.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5dd6fec14_8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5dd6fec14_8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This pattern remains consistent across all matchers and datasets, confirming that the top-1 inlier count is a reliable indicator of retrieval correctness and query difficulty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5dd6fec14_8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5dd6fec14_8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However, a deeper statistical analysis highlights a significant discrepancy between daytime and nighttime conditions. At night, the number of true-positive inliers decreases sharply. For instance, with the LoFTR matcher, the median count drops from 121 during the day to 67.5 at night. This high variability justifies our decision to train distinct, dataset-specific models for each matcher-dataset combination, with a specific threshold used for classification for each model..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5dd6fec14_8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5dd6fec14_8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This leads us to the second stage: modeling query difficulty through Logistic Regression. We chose this approach for several reasons: the one-dimensional input space prevents overfitting, the inference process is highly efficient, and the probabilistic output enables a principled selection of the decision threshold. Our training setup is precise: the input x is the inlier count with the top-1 retrieved image, </a:t>
            </a:r>
            <a:r>
              <a:rPr lang="it"/>
              <a:t>and the target y is 1 if</a:t>
            </a:r>
            <a:r>
              <a:rPr lang="it">
                <a:solidFill>
                  <a:schemeClr val="dk1"/>
                </a:solidFill>
              </a:rPr>
              <a:t> the distance of the prediction from the ground truth is within 25 meters, and 0 otherwise.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5dd6fec14_8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5dd6fec14_8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accommodate the variations we identified, we trained four separate models covering all combinations of SVOX Sun/Night and LoFTR/SuperGlue. The validation results confirm strong and stable performance, with AUPRC values ranging from 0.91 to 0.98 and AUC-ROC between 0.93 and 0.97. These metrics demonstrate that our regressors accurately estimate the probability of a query being "easy". But how do we translate these probabilities into an operational decision? My colleague Matteo will now illustrate the Threshold Validation process.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5dd6fec14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5dd6fec14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Now that we have a logistic regressor that outputs a probability, our next challenge was to avoid using a generic, naive threshold of 0.5 for the outputs of our models. Instead, we wanted to find an optimal threshold capable of balancing two conflicting objectives for each specific matcher-dataset pair:</a:t>
            </a:r>
            <a:endParaRPr sz="1150">
              <a:solidFill>
                <a:schemeClr val="dk1"/>
              </a:solidFill>
            </a:endParaRPr>
          </a:p>
          <a:p>
            <a:pPr indent="-301625" lvl="0" marL="457200" rtl="0" algn="l">
              <a:lnSpc>
                <a:spcPct val="115000"/>
              </a:lnSpc>
              <a:spcBef>
                <a:spcPts val="1200"/>
              </a:spcBef>
              <a:spcAft>
                <a:spcPts val="0"/>
              </a:spcAft>
              <a:buClr>
                <a:schemeClr val="dk1"/>
              </a:buClr>
              <a:buSzPts val="1150"/>
              <a:buChar char="●"/>
            </a:pPr>
            <a:r>
              <a:rPr b="1" lang="it" sz="1150">
                <a:solidFill>
                  <a:schemeClr val="dk1"/>
                </a:solidFill>
              </a:rPr>
              <a:t>Maximizing accuracy</a:t>
            </a:r>
            <a:r>
              <a:rPr lang="it" sz="1150">
                <a:solidFill>
                  <a:schemeClr val="dk1"/>
                </a:solidFill>
              </a:rPr>
              <a:t> on "easy" queries, which are the ones we choose to skip.</a:t>
            </a:r>
            <a:endParaRPr sz="1150">
              <a:solidFill>
                <a:schemeClr val="dk1"/>
              </a:solidFill>
            </a:endParaRPr>
          </a:p>
          <a:p>
            <a:pPr indent="-301625" lvl="0" marL="457200" rtl="0" algn="l">
              <a:lnSpc>
                <a:spcPct val="115000"/>
              </a:lnSpc>
              <a:spcBef>
                <a:spcPts val="0"/>
              </a:spcBef>
              <a:spcAft>
                <a:spcPts val="0"/>
              </a:spcAft>
              <a:buClr>
                <a:schemeClr val="dk1"/>
              </a:buClr>
              <a:buSzPts val="1150"/>
              <a:buChar char="●"/>
            </a:pPr>
            <a:r>
              <a:rPr b="1" lang="it" sz="1150">
                <a:solidFill>
                  <a:schemeClr val="dk1"/>
                </a:solidFill>
              </a:rPr>
              <a:t>Maximizing the time saved</a:t>
            </a:r>
            <a:r>
              <a:rPr lang="it" sz="1150">
                <a:solidFill>
                  <a:schemeClr val="dk1"/>
                </a:solidFill>
              </a:rPr>
              <a:t> by skipping those queries, which represents our true computational benefit.</a:t>
            </a:r>
            <a:endParaRPr sz="1150">
              <a:solidFill>
                <a:schemeClr val="dk1"/>
              </a:solidFill>
            </a:endParaRPr>
          </a:p>
          <a:p>
            <a:pPr indent="0" lvl="0" marL="0" rtl="0" algn="l">
              <a:lnSpc>
                <a:spcPct val="115000"/>
              </a:lnSpc>
              <a:spcBef>
                <a:spcPts val="1200"/>
              </a:spcBef>
              <a:spcAft>
                <a:spcPts val="0"/>
              </a:spcAft>
              <a:buNone/>
            </a:pPr>
            <a:r>
              <a:rPr lang="it" sz="1150">
                <a:solidFill>
                  <a:schemeClr val="dk1"/>
                </a:solidFill>
              </a:rPr>
              <a:t>Inevitably, these two goals clash. If we lower the threshold, we allow more queries to pass as "easy," which avoids full image matching and saves a massive amount of time. However, this naturally introduces a higher risk of dropping our localization accuracy. So, how did we solve this? Let's move to the next slide.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dd6fec14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5dd6fec14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To address this trade-off, we developed a straightforward, weighted scoring formula:</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Let's break down what this means.</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it" sz="1150">
                <a:solidFill>
                  <a:schemeClr val="dk1"/>
                </a:solidFill>
              </a:rPr>
              <a:t>AccuracyOneasy</a:t>
            </a:r>
            <a:r>
              <a:rPr lang="it" sz="1150">
                <a:solidFill>
                  <a:schemeClr val="dk1"/>
                </a:solidFill>
              </a:rPr>
              <a:t> is the percentage of easy queries predicted correctly, </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while </a:t>
            </a:r>
            <a:r>
              <a:rPr b="1" lang="it" sz="1150">
                <a:solidFill>
                  <a:schemeClr val="dk1"/>
                </a:solidFill>
              </a:rPr>
              <a:t>TimeSaved</a:t>
            </a:r>
            <a:r>
              <a:rPr lang="it" sz="1150">
                <a:solidFill>
                  <a:schemeClr val="dk1"/>
                </a:solidFill>
              </a:rPr>
              <a:t> represents the percentage of total computational time saved compared to the brute-force baseline. And we compute this by multiplying the number of easy queries by 19 over 20 of the average processing time per query.</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The parameter α is our tuning coefficient. By varying this, we can give more weight to precision or to computational speed. For our experiments, we set α=0.9, meaning we heavily prioritized retrieval accuracy over speed. Ultimately, the optimal threshold τ∗ is simply the one that maximizes this relationship.</a:t>
            </a:r>
            <a:endParaRPr sz="115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5e5e04d19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e5e5e04d19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In practice, we perform a grid sweep over candidate threshold values, ranging from 0.5 to 0.9.</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For each threshold, we calculate the number of queries classified as easy, the accuracy on those queries, and the matching time saved.</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As you can see from the plot, the peak of the curve varies significantly depending on the dataset and the local matcher being used. On the upper part of the plot, we have the results for LoFTR, while the lower part shows SuperGlue.</a:t>
            </a:r>
            <a:endParaRPr sz="11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For example, when using </a:t>
            </a:r>
            <a:r>
              <a:rPr b="1" lang="it" sz="1150">
                <a:solidFill>
                  <a:schemeClr val="dk1"/>
                </a:solidFill>
              </a:rPr>
              <a:t>LoFTR on SVOX Sun</a:t>
            </a:r>
            <a:r>
              <a:rPr lang="it" sz="1150">
                <a:solidFill>
                  <a:schemeClr val="dk1"/>
                </a:solidFill>
              </a:rPr>
              <a:t>, the optimal threshold τ∗ is </a:t>
            </a:r>
            <a:r>
              <a:rPr b="1" lang="it" sz="1150">
                <a:solidFill>
                  <a:schemeClr val="dk1"/>
                </a:solidFill>
              </a:rPr>
              <a:t>0.75</a:t>
            </a:r>
            <a:r>
              <a:rPr lang="it" sz="1150">
                <a:solidFill>
                  <a:schemeClr val="dk1"/>
                </a:solidFill>
              </a:rPr>
              <a:t>. Conversely, for </a:t>
            </a:r>
            <a:r>
              <a:rPr b="1" lang="it" sz="1150">
                <a:solidFill>
                  <a:schemeClr val="dk1"/>
                </a:solidFill>
              </a:rPr>
              <a:t>LoFTR on SVOX Night</a:t>
            </a:r>
            <a:r>
              <a:rPr lang="it" sz="1150">
                <a:solidFill>
                  <a:schemeClr val="dk1"/>
                </a:solidFill>
              </a:rPr>
              <a:t>, the optimal threshold climbs to </a:t>
            </a:r>
            <a:r>
              <a:rPr b="1" lang="it" sz="1150">
                <a:solidFill>
                  <a:schemeClr val="dk1"/>
                </a:solidFill>
              </a:rPr>
              <a:t>0.90</a:t>
            </a:r>
            <a:r>
              <a:rPr lang="it" sz="1150">
                <a:solidFill>
                  <a:schemeClr val="dk1"/>
                </a:solidFill>
              </a:rPr>
              <a:t>. This highlights a much more conservative approach in nighttime environments.</a:t>
            </a:r>
            <a:endParaRPr sz="115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73284dd4f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73284dd4f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sz="1150">
                <a:solidFill>
                  <a:schemeClr val="dk1"/>
                </a:solidFill>
              </a:rPr>
              <a:t>Once we have the optimal thresholds for each matcher-dataset pair, we deploy our runtime </a:t>
            </a:r>
            <a:r>
              <a:rPr b="1" lang="it" sz="1150">
                <a:solidFill>
                  <a:schemeClr val="dk1"/>
                </a:solidFill>
              </a:rPr>
              <a:t>Adaptive Inference</a:t>
            </a:r>
            <a:r>
              <a:rPr lang="it" sz="1150">
                <a:solidFill>
                  <a:schemeClr val="dk1"/>
                </a:solidFill>
              </a:rPr>
              <a:t> pipeline, which follows a concrete 4-stage process:</a:t>
            </a:r>
            <a:endParaRPr sz="1150">
              <a:solidFill>
                <a:schemeClr val="dk1"/>
              </a:solidFill>
            </a:endParaRPr>
          </a:p>
          <a:p>
            <a:pPr indent="-301625" lvl="0" marL="457200" rtl="0" algn="l">
              <a:lnSpc>
                <a:spcPct val="115000"/>
              </a:lnSpc>
              <a:spcBef>
                <a:spcPts val="1200"/>
              </a:spcBef>
              <a:spcAft>
                <a:spcPts val="0"/>
              </a:spcAft>
              <a:buClr>
                <a:schemeClr val="dk1"/>
              </a:buClr>
              <a:buSzPts val="1150"/>
              <a:buAutoNum type="arabicPeriod"/>
            </a:pPr>
            <a:r>
              <a:rPr lang="it" sz="1150">
                <a:solidFill>
                  <a:schemeClr val="dk1"/>
                </a:solidFill>
              </a:rPr>
              <a:t>First, a </a:t>
            </a:r>
            <a:r>
              <a:rPr b="1" lang="it" sz="1150">
                <a:solidFill>
                  <a:schemeClr val="dk1"/>
                </a:solidFill>
              </a:rPr>
              <a:t>Query Image</a:t>
            </a:r>
            <a:r>
              <a:rPr lang="it" sz="1150">
                <a:solidFill>
                  <a:schemeClr val="dk1"/>
                </a:solidFill>
              </a:rPr>
              <a:t> enters the system to be localized.</a:t>
            </a:r>
            <a:endParaRPr sz="1150">
              <a:solidFill>
                <a:schemeClr val="dk1"/>
              </a:solidFill>
            </a:endParaRPr>
          </a:p>
          <a:p>
            <a:pPr indent="-301625" lvl="0" marL="457200" rtl="0" algn="l">
              <a:lnSpc>
                <a:spcPct val="115000"/>
              </a:lnSpc>
              <a:spcBef>
                <a:spcPts val="0"/>
              </a:spcBef>
              <a:spcAft>
                <a:spcPts val="0"/>
              </a:spcAft>
              <a:buClr>
                <a:schemeClr val="dk1"/>
              </a:buClr>
              <a:buSzPts val="1150"/>
              <a:buAutoNum type="arabicPeriod"/>
            </a:pPr>
            <a:r>
              <a:rPr lang="it" sz="1150">
                <a:solidFill>
                  <a:schemeClr val="dk1"/>
                </a:solidFill>
              </a:rPr>
              <a:t>We run the global VPR retrieval and extract the </a:t>
            </a:r>
            <a:r>
              <a:rPr b="1" lang="it" sz="1150">
                <a:solidFill>
                  <a:schemeClr val="dk1"/>
                </a:solidFill>
              </a:rPr>
              <a:t>Top-1 match</a:t>
            </a:r>
            <a:r>
              <a:rPr lang="it" sz="1150">
                <a:solidFill>
                  <a:schemeClr val="dk1"/>
                </a:solidFill>
              </a:rPr>
              <a:t>.</a:t>
            </a:r>
            <a:endParaRPr sz="1150">
              <a:solidFill>
                <a:schemeClr val="dk1"/>
              </a:solidFill>
            </a:endParaRPr>
          </a:p>
          <a:p>
            <a:pPr indent="-301625" lvl="0" marL="457200" rtl="0" algn="l">
              <a:lnSpc>
                <a:spcPct val="115000"/>
              </a:lnSpc>
              <a:spcBef>
                <a:spcPts val="0"/>
              </a:spcBef>
              <a:spcAft>
                <a:spcPts val="0"/>
              </a:spcAft>
              <a:buClr>
                <a:schemeClr val="dk1"/>
              </a:buClr>
              <a:buSzPts val="1150"/>
              <a:buAutoNum type="arabicPeriod"/>
            </a:pPr>
            <a:r>
              <a:rPr lang="it" sz="1150">
                <a:solidFill>
                  <a:schemeClr val="dk1"/>
                </a:solidFill>
              </a:rPr>
              <a:t>We compute the number of geometric inliers with this top-1 image and feed it into our trained Logistic Regression model to predict whether the query is Easy or Hard.</a:t>
            </a:r>
            <a:endParaRPr sz="1150">
              <a:solidFill>
                <a:schemeClr val="dk1"/>
              </a:solidFill>
            </a:endParaRPr>
          </a:p>
          <a:p>
            <a:pPr indent="-301625" lvl="0" marL="457200" rtl="0" algn="l">
              <a:lnSpc>
                <a:spcPct val="115000"/>
              </a:lnSpc>
              <a:spcBef>
                <a:spcPts val="0"/>
              </a:spcBef>
              <a:spcAft>
                <a:spcPts val="0"/>
              </a:spcAft>
              <a:buClr>
                <a:schemeClr val="dk1"/>
              </a:buClr>
              <a:buSzPts val="1150"/>
              <a:buAutoNum type="arabicPeriod"/>
            </a:pPr>
            <a:r>
              <a:rPr lang="it" sz="1150">
                <a:solidFill>
                  <a:schemeClr val="dk1"/>
                </a:solidFill>
              </a:rPr>
              <a:t>Based on the calibrated probability and our threshold, the system dynamically splits into two paths:</a:t>
            </a:r>
            <a:endParaRPr sz="1150">
              <a:solidFill>
                <a:schemeClr val="dk1"/>
              </a:solidFill>
            </a:endParaRPr>
          </a:p>
          <a:p>
            <a:pPr indent="-301625" lvl="1" marL="914400" rtl="0" algn="l">
              <a:lnSpc>
                <a:spcPct val="115000"/>
              </a:lnSpc>
              <a:spcBef>
                <a:spcPts val="0"/>
              </a:spcBef>
              <a:spcAft>
                <a:spcPts val="0"/>
              </a:spcAft>
              <a:buClr>
                <a:schemeClr val="dk1"/>
              </a:buClr>
              <a:buSzPts val="1150"/>
              <a:buChar char="●"/>
            </a:pPr>
            <a:r>
              <a:rPr b="1" lang="it" sz="1150">
                <a:solidFill>
                  <a:schemeClr val="dk1"/>
                </a:solidFill>
              </a:rPr>
              <a:t>The EASY path:</a:t>
            </a:r>
            <a:r>
              <a:rPr lang="it" sz="1150">
                <a:solidFill>
                  <a:schemeClr val="dk1"/>
                </a:solidFill>
              </a:rPr>
              <a:t> If the confidence is high, we stop early and keep the top-1 prediction. We are done, completely skipping the remaining 19 matching verifications.</a:t>
            </a:r>
            <a:endParaRPr sz="1150">
              <a:solidFill>
                <a:schemeClr val="dk1"/>
              </a:solidFill>
            </a:endParaRPr>
          </a:p>
          <a:p>
            <a:pPr indent="-301625" lvl="1" marL="914400" rtl="0" algn="l">
              <a:lnSpc>
                <a:spcPct val="115000"/>
              </a:lnSpc>
              <a:spcBef>
                <a:spcPts val="0"/>
              </a:spcBef>
              <a:spcAft>
                <a:spcPts val="0"/>
              </a:spcAft>
              <a:buClr>
                <a:schemeClr val="dk1"/>
              </a:buClr>
              <a:buSzPts val="1150"/>
              <a:buChar char="●"/>
            </a:pPr>
            <a:r>
              <a:rPr b="1" lang="it" sz="1150">
                <a:solidFill>
                  <a:schemeClr val="dk1"/>
                </a:solidFill>
              </a:rPr>
              <a:t>The HARD path:</a:t>
            </a:r>
            <a:r>
              <a:rPr lang="it" sz="1150">
                <a:solidFill>
                  <a:schemeClr val="dk1"/>
                </a:solidFill>
              </a:rPr>
              <a:t> If confidence is low, we route the query to the full matching pipeline across all top-20 candidates for a thorough re-ranking.</a:t>
            </a:r>
            <a:endParaRPr sz="11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sz="1150">
                <a:solidFill>
                  <a:schemeClr val="dk1"/>
                </a:solidFill>
              </a:rPr>
              <a:t>And here is the massive computational payoff: if a dominant portion of our queries takes the fast path, we drastically cut down latency!</a:t>
            </a:r>
            <a:endParaRPr sz="115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5e5e04d19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5e5e04d19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solidFill>
                  <a:schemeClr val="dk1"/>
                </a:solidFill>
              </a:rPr>
              <a:t>To put these concepts into practice, let’s look at how our adaptive framework performs under different conditions, using LoFTR as our first reference point.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As you can see from the metrics, the system exhibits clear environmental awareness. During the day, it exploits visual clarity to skip heavy verification loops—saving massive amounts of time (78%!). At night, it automatically senses the ambiguity, lowers the early-exit rate, and routes queries safely to the full pipeline.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The core takeaway here is that </a:t>
            </a:r>
            <a:r>
              <a:rPr b="1" lang="it">
                <a:solidFill>
                  <a:schemeClr val="dk1"/>
                </a:solidFill>
              </a:rPr>
              <a:t>adaptive means smart</a:t>
            </a:r>
            <a:r>
              <a:rPr lang="it">
                <a:solidFill>
                  <a:schemeClr val="dk1"/>
                </a:solidFill>
              </a:rPr>
              <a:t>: the system dynamically scales its computational effort based on statistical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To walk you through the macro-results, I</a:t>
            </a:r>
            <a:r>
              <a:rPr lang="it">
                <a:solidFill>
                  <a:schemeClr val="dk1"/>
                </a:solidFill>
              </a:rPr>
              <a:t>’ll hand it</a:t>
            </a:r>
            <a:r>
              <a:rPr lang="it">
                <a:solidFill>
                  <a:schemeClr val="dk1"/>
                </a:solidFill>
              </a:rPr>
              <a:t> over to Geremia.</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71a5b14f8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71a5b14f8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t>Thank you. Let's talk about the main macro-results of our framework, visible in the comparison of Tables 3 and 4. We evaluated our adaptive routing policy against two completely different local verification philosophies: the dense matcher, LoFTR, and the sparse matcher, SuperGlue.</a:t>
            </a:r>
            <a:endParaRPr/>
          </a:p>
          <a:p>
            <a:pPr indent="0" lvl="0" marL="0" rtl="0" algn="l">
              <a:lnSpc>
                <a:spcPct val="115000"/>
              </a:lnSpc>
              <a:spcBef>
                <a:spcPts val="1200"/>
              </a:spcBef>
              <a:spcAft>
                <a:spcPts val="0"/>
              </a:spcAft>
              <a:buClr>
                <a:schemeClr val="dk1"/>
              </a:buClr>
              <a:buSzPts val="1100"/>
              <a:buFont typeface="Arial"/>
              <a:buNone/>
            </a:pPr>
            <a:r>
              <a:rPr lang="it"/>
              <a:t>A fascinating engineering trade-off emerged. In benign environments with ideal lighting, such as SVOX Sun, our framework successfully flags a dominant portion of queries as 'Easy'—specifically 73.2% for LoFTR and up to 78.8% for SuperGlue. For nearly 80% of the cases, the system stops immediately after the top-1 prediction, completely bypassing the remaining 19 candidates. Remarkably, this massive computation pruning causes zero degradation to accuracy, maintaining a high Recall@1 of 0.90 with LoFTR and 0.86 with SuperGlue.</a:t>
            </a:r>
            <a:endParaRPr/>
          </a:p>
          <a:p>
            <a:pPr indent="0" lvl="0" marL="0" rtl="0" algn="l">
              <a:lnSpc>
                <a:spcPct val="115000"/>
              </a:lnSpc>
              <a:spcBef>
                <a:spcPts val="1200"/>
              </a:spcBef>
              <a:spcAft>
                <a:spcPts val="0"/>
              </a:spcAft>
              <a:buClr>
                <a:schemeClr val="dk1"/>
              </a:buClr>
              <a:buSzPts val="1100"/>
              <a:buFont typeface="Arial"/>
              <a:buNone/>
            </a:pPr>
            <a:r>
              <a:rPr lang="it"/>
              <a:t>Furthermore, look at how the framework adapts to SVOX Night. As visibility drops, the 'Easy' rate instantly plunges to roughly 41%, automatically routing nearly 60% of ambiguous queries to full verification. This confirms our selector is highly context-aware: it accurately senses uncertainty and safely backs down to protect localization metrics, keeping the night Recall@1 stable around 74%.</a:t>
            </a:r>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71a5b14f8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e71a5b14f8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t>The next critical question we addressed is: how well does this parametric confidence boundary generalize to new, unseen environments?</a:t>
            </a:r>
            <a:endParaRPr/>
          </a:p>
          <a:p>
            <a:pPr indent="0" lvl="0" marL="0" rtl="0" algn="l">
              <a:lnSpc>
                <a:spcPct val="115000"/>
              </a:lnSpc>
              <a:spcBef>
                <a:spcPts val="1200"/>
              </a:spcBef>
              <a:spcAft>
                <a:spcPts val="0"/>
              </a:spcAft>
              <a:buClr>
                <a:schemeClr val="dk1"/>
              </a:buClr>
              <a:buSzPts val="1100"/>
              <a:buFont typeface="Arial"/>
              <a:buNone/>
            </a:pPr>
            <a:r>
              <a:rPr lang="it"/>
              <a:t>The results of our transfer analysis are highly convincing. An excellent example is the cross-illumination transfer: when we take a model trained exclusively on SVOX Night—which is naturally very strict and conservative—and deploy it on the diurnally clear images of SVOX Sun, it saturates the sigmoid curve flawlessly. It converts daytime visual clarity into an immediate boost in efficiency, achieving 76.4% early exits and a robust 0.89 Recall@1.</a:t>
            </a:r>
            <a:endParaRPr/>
          </a:p>
          <a:p>
            <a:pPr indent="0" lvl="0" marL="0" rtl="0" algn="l">
              <a:lnSpc>
                <a:spcPct val="115000"/>
              </a:lnSpc>
              <a:spcBef>
                <a:spcPts val="1200"/>
              </a:spcBef>
              <a:spcAft>
                <a:spcPts val="0"/>
              </a:spcAft>
              <a:buClr>
                <a:schemeClr val="dk1"/>
              </a:buClr>
              <a:buSzPts val="1100"/>
              <a:buFont typeface="Arial"/>
              <a:buNone/>
            </a:pPr>
            <a:r>
              <a:rPr lang="it"/>
              <a:t>When subjected to strict zero-shot geographic transfers on remote urban environments like Tokyo and San Francisco, the framework generalizes seamlessly. The selector safely isolates between 48% and 63% of easy queries on these unseen architectural styles while preserving stable recall bounds. This provides our most critical scientific takeaway: the local keypoint inlier count is an environment-agnostic signature for retrieval certainty.</a:t>
            </a:r>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71a5b14f8_1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e71a5b14f8_1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t>To conclude, this project successfully presents three key achievements. First, we demonstrated that our selective routing strategy successfully bridges the gap between high precision and strict latency constraints. Second, bypassing exhaustive matching for highly confident queries yields a massive computational time saving of up to 78% while fully preserving baseline recall integrity. Third, we proved that the top-1 spatial inlier count acts as a universal, environment-agnostic signature for retrieval certainty, remaining resilient under severe domain shifts. </a:t>
            </a:r>
            <a:endParaRPr/>
          </a:p>
          <a:p>
            <a:pPr indent="0" lvl="0" marL="0" rtl="0" algn="l">
              <a:lnSpc>
                <a:spcPct val="115000"/>
              </a:lnSpc>
              <a:spcBef>
                <a:spcPts val="1200"/>
              </a:spcBef>
              <a:spcAft>
                <a:spcPts val="0"/>
              </a:spcAft>
              <a:buClr>
                <a:schemeClr val="dk1"/>
              </a:buClr>
              <a:buSzPts val="1100"/>
              <a:buFont typeface="Arial"/>
              <a:buNone/>
            </a:pPr>
            <a:r>
              <a:rPr lang="it"/>
              <a:t>Looking ahead to our future works, we plan to push the limits of this architecture further by integrating ultra-fast local feature matchers like LightGlue into our cascading pipeline. Additionally, we aim to investigate richer spatial metrics—such as the actual geometric layout and dispersion of the points across the image matrix, rather than relying solely on a scalar count. Finally, our long-term goal is embedding continuous gating mechanisms directly inside the global architecture for single-stage uncertainty prediction. </a:t>
            </a:r>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71a5b14f8_1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e71a5b14f8_1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solidFill>
                  <a:schemeClr val="accent5"/>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pic>
        <p:nvPicPr>
          <p:cNvPr id="9" name="Google Shape;9;p1" title="download.png"/>
          <p:cNvPicPr preferRelativeResize="0"/>
          <p:nvPr/>
        </p:nvPicPr>
        <p:blipFill>
          <a:blip r:embed="rId1">
            <a:alphaModFix/>
          </a:blip>
          <a:stretch>
            <a:fillRect/>
          </a:stretch>
        </p:blipFill>
        <p:spPr>
          <a:xfrm>
            <a:off x="7942750" y="4111325"/>
            <a:ext cx="815950" cy="743050"/>
          </a:xfrm>
          <a:prstGeom prst="rect">
            <a:avLst/>
          </a:prstGeom>
          <a:noFill/>
          <a:ln>
            <a:noFill/>
          </a:ln>
        </p:spPr>
      </p:pic>
      <p:sp>
        <p:nvSpPr>
          <p:cNvPr id="10" name="Google Shape;10;p1"/>
          <p:cNvSpPr txBox="1"/>
          <p:nvPr/>
        </p:nvSpPr>
        <p:spPr>
          <a:xfrm>
            <a:off x="1638300" y="4460775"/>
            <a:ext cx="5867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200">
                <a:solidFill>
                  <a:schemeClr val="dk2"/>
                </a:solidFill>
              </a:rPr>
              <a:t>Advanced Machine Learning</a:t>
            </a:r>
            <a:r>
              <a:rPr lang="it" sz="1200">
                <a:solidFill>
                  <a:schemeClr val="dk2"/>
                </a:solidFill>
              </a:rPr>
              <a:t> Course A.Y. 2025-2026 | Politecnico di Torino</a:t>
            </a:r>
            <a:endParaRPr sz="1200">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it">
                <a:solidFill>
                  <a:schemeClr val="accent5"/>
                </a:solidFill>
              </a:rPr>
              <a:t>Adaptive Inlier-driven Re-ranking for Efficient </a:t>
            </a:r>
            <a:endParaRPr>
              <a:solidFill>
                <a:schemeClr val="accent5"/>
              </a:solidFill>
            </a:endParaRPr>
          </a:p>
          <a:p>
            <a:pPr indent="0" lvl="0" marL="0" rtl="0" algn="ctr">
              <a:spcBef>
                <a:spcPts val="0"/>
              </a:spcBef>
              <a:spcAft>
                <a:spcPts val="0"/>
              </a:spcAft>
              <a:buNone/>
            </a:pPr>
            <a:r>
              <a:rPr lang="it">
                <a:solidFill>
                  <a:schemeClr val="accent5"/>
                </a:solidFill>
              </a:rPr>
              <a:t>Visual Place Recognition</a:t>
            </a:r>
            <a:r>
              <a:rPr lang="it"/>
              <a:t> </a:t>
            </a:r>
            <a:endParaRPr/>
          </a:p>
        </p:txBody>
      </p:sp>
      <p:sp>
        <p:nvSpPr>
          <p:cNvPr id="57" name="Google Shape;57;p13"/>
          <p:cNvSpPr txBox="1"/>
          <p:nvPr>
            <p:ph idx="1" type="subTitle"/>
          </p:nvPr>
        </p:nvSpPr>
        <p:spPr>
          <a:xfrm>
            <a:off x="311700" y="2834125"/>
            <a:ext cx="8520600" cy="2052600"/>
          </a:xfrm>
          <a:prstGeom prst="rect">
            <a:avLst/>
          </a:prstGeom>
        </p:spPr>
        <p:txBody>
          <a:bodyPr anchorCtr="0" anchor="t" bIns="91425" lIns="91425" spcFirstLastPara="1" rIns="91425" wrap="square" tIns="91425">
            <a:normAutofit fontScale="77500" lnSpcReduction="20000"/>
          </a:bodyPr>
          <a:lstStyle/>
          <a:p>
            <a:pPr indent="0" lvl="0" marL="0" rtl="0" algn="ctr">
              <a:lnSpc>
                <a:spcPct val="115000"/>
              </a:lnSpc>
              <a:spcBef>
                <a:spcPts val="0"/>
              </a:spcBef>
              <a:spcAft>
                <a:spcPts val="0"/>
              </a:spcAft>
              <a:buNone/>
            </a:pPr>
            <a:r>
              <a:rPr i="1" lang="it" sz="3226">
                <a:solidFill>
                  <a:schemeClr val="dk1"/>
                </a:solidFill>
              </a:rPr>
              <a:t>Travaglio Francesco Maria - 349490</a:t>
            </a:r>
            <a:endParaRPr i="1" sz="3226">
              <a:solidFill>
                <a:schemeClr val="dk1"/>
              </a:solidFill>
            </a:endParaRPr>
          </a:p>
          <a:p>
            <a:pPr indent="0" lvl="0" marL="0" rtl="0" algn="ctr">
              <a:lnSpc>
                <a:spcPct val="115000"/>
              </a:lnSpc>
              <a:spcBef>
                <a:spcPts val="0"/>
              </a:spcBef>
              <a:spcAft>
                <a:spcPts val="0"/>
              </a:spcAft>
              <a:buNone/>
            </a:pPr>
            <a:r>
              <a:rPr i="1" lang="it" sz="3226">
                <a:solidFill>
                  <a:schemeClr val="dk1"/>
                </a:solidFill>
              </a:rPr>
              <a:t>Ziccardi Leonardo - 343519</a:t>
            </a:r>
            <a:endParaRPr i="1" sz="3226">
              <a:solidFill>
                <a:schemeClr val="dk1"/>
              </a:solidFill>
            </a:endParaRPr>
          </a:p>
          <a:p>
            <a:pPr indent="0" lvl="0" marL="0" rtl="0" algn="ctr">
              <a:lnSpc>
                <a:spcPct val="115000"/>
              </a:lnSpc>
              <a:spcBef>
                <a:spcPts val="0"/>
              </a:spcBef>
              <a:spcAft>
                <a:spcPts val="0"/>
              </a:spcAft>
              <a:buClr>
                <a:schemeClr val="dk1"/>
              </a:buClr>
              <a:buSzPct val="34099"/>
              <a:buFont typeface="Arial"/>
              <a:buNone/>
            </a:pPr>
            <a:r>
              <a:rPr i="1" lang="it" sz="3226">
                <a:solidFill>
                  <a:schemeClr val="dk1"/>
                </a:solidFill>
              </a:rPr>
              <a:t>Sanna Matteo - 346296</a:t>
            </a:r>
            <a:endParaRPr i="1" sz="3226">
              <a:solidFill>
                <a:schemeClr val="dk1"/>
              </a:solidFill>
            </a:endParaRPr>
          </a:p>
          <a:p>
            <a:pPr indent="0" lvl="0" marL="0" rtl="0" algn="ctr">
              <a:lnSpc>
                <a:spcPct val="115000"/>
              </a:lnSpc>
              <a:spcBef>
                <a:spcPts val="0"/>
              </a:spcBef>
              <a:spcAft>
                <a:spcPts val="0"/>
              </a:spcAft>
              <a:buClr>
                <a:schemeClr val="dk1"/>
              </a:buClr>
              <a:buSzPct val="34099"/>
              <a:buFont typeface="Arial"/>
              <a:buNone/>
            </a:pPr>
            <a:r>
              <a:rPr i="1" lang="it" sz="3226">
                <a:solidFill>
                  <a:schemeClr val="dk1"/>
                </a:solidFill>
              </a:rPr>
              <a:t>Feira Geremia - 342726</a:t>
            </a:r>
            <a:endParaRPr i="1" sz="3226">
              <a:solidFill>
                <a:schemeClr val="dk1"/>
              </a:solidFill>
            </a:endParaRPr>
          </a:p>
          <a:p>
            <a:pPr indent="0" lvl="0" marL="0" rtl="0" algn="ctr">
              <a:spcBef>
                <a:spcPts val="0"/>
              </a:spcBef>
              <a:spcAft>
                <a:spcPts val="0"/>
              </a:spcAft>
              <a:buNone/>
            </a:pPr>
            <a:r>
              <a:t/>
            </a:r>
            <a:endParaRPr/>
          </a:p>
        </p:txBody>
      </p:sp>
      <p:sp>
        <p:nvSpPr>
          <p:cNvPr id="58" name="Google Shape;58;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What is VPR?</a:t>
            </a:r>
            <a:endParaRPr/>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lnSpc>
                <a:spcPct val="200000"/>
              </a:lnSpc>
              <a:spcBef>
                <a:spcPts val="0"/>
              </a:spcBef>
              <a:spcAft>
                <a:spcPts val="0"/>
              </a:spcAft>
              <a:buSzPct val="100000"/>
              <a:buChar char="●"/>
            </a:pPr>
            <a:r>
              <a:rPr lang="it"/>
              <a:t>The task of understanding where a </a:t>
            </a:r>
            <a:r>
              <a:rPr lang="it"/>
              <a:t>place</a:t>
            </a:r>
            <a:r>
              <a:rPr lang="it"/>
              <a:t> </a:t>
            </a:r>
            <a:r>
              <a:rPr b="1" lang="it"/>
              <a:t>is</a:t>
            </a:r>
            <a:r>
              <a:rPr lang="it"/>
              <a:t> based solely on the visual content of an image</a:t>
            </a:r>
            <a:endParaRPr/>
          </a:p>
          <a:p>
            <a:pPr indent="-334328" lvl="0" marL="457200" rtl="0" algn="l">
              <a:lnSpc>
                <a:spcPct val="200000"/>
              </a:lnSpc>
              <a:spcBef>
                <a:spcPts val="0"/>
              </a:spcBef>
              <a:spcAft>
                <a:spcPts val="0"/>
              </a:spcAft>
              <a:buSzPct val="100000"/>
              <a:buChar char="●"/>
            </a:pPr>
            <a:r>
              <a:rPr lang="it"/>
              <a:t>This is done by computing a </a:t>
            </a:r>
            <a:r>
              <a:rPr b="1" lang="it"/>
              <a:t>descriptor</a:t>
            </a:r>
            <a:r>
              <a:rPr lang="it"/>
              <a:t> of a query image and </a:t>
            </a:r>
            <a:r>
              <a:rPr lang="it"/>
              <a:t>comparing</a:t>
            </a:r>
            <a:r>
              <a:rPr lang="it"/>
              <a:t> it </a:t>
            </a:r>
            <a:r>
              <a:rPr lang="it"/>
              <a:t>against</a:t>
            </a:r>
            <a:r>
              <a:rPr lang="it"/>
              <a:t> a </a:t>
            </a:r>
            <a:r>
              <a:rPr lang="it"/>
              <a:t>database full of descriptors to find a match</a:t>
            </a:r>
            <a:endParaRPr/>
          </a:p>
          <a:p>
            <a:pPr indent="-334328" lvl="0" marL="457200" rtl="0" algn="l">
              <a:lnSpc>
                <a:spcPct val="200000"/>
              </a:lnSpc>
              <a:spcBef>
                <a:spcPts val="0"/>
              </a:spcBef>
              <a:spcAft>
                <a:spcPts val="0"/>
              </a:spcAft>
              <a:buSzPct val="100000"/>
              <a:buChar char="●"/>
            </a:pPr>
            <a:r>
              <a:rPr lang="it"/>
              <a:t>It’s a critical task for a variety of real-world applications such as autonomous driving, mapping, robotics and many others</a:t>
            </a:r>
            <a:endParaRPr/>
          </a:p>
          <a:p>
            <a:pPr indent="0" lvl="0" marL="457200" rtl="0" algn="l">
              <a:spcBef>
                <a:spcPts val="1200"/>
              </a:spcBef>
              <a:spcAft>
                <a:spcPts val="1200"/>
              </a:spcAft>
              <a:buNone/>
            </a:pPr>
            <a:r>
              <a:t/>
            </a:r>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VPR pipeline</a:t>
            </a:r>
            <a:endParaRPr/>
          </a:p>
        </p:txBody>
      </p:sp>
      <p:sp>
        <p:nvSpPr>
          <p:cNvPr id="71" name="Google Shape;71;p15"/>
          <p:cNvSpPr txBox="1"/>
          <p:nvPr>
            <p:ph idx="1" type="body"/>
          </p:nvPr>
        </p:nvSpPr>
        <p:spPr>
          <a:xfrm>
            <a:off x="5558925" y="1152475"/>
            <a:ext cx="3273300" cy="3416400"/>
          </a:xfrm>
          <a:prstGeom prst="rect">
            <a:avLst/>
          </a:prstGeom>
        </p:spPr>
        <p:txBody>
          <a:bodyPr anchorCtr="0" anchor="ctr" bIns="91425" lIns="91425" spcFirstLastPara="1" rIns="91425" wrap="square" tIns="91425">
            <a:normAutofit/>
          </a:bodyPr>
          <a:lstStyle/>
          <a:p>
            <a:pPr indent="-330200" lvl="0" marL="457200" rtl="0" algn="l">
              <a:spcBef>
                <a:spcPts val="0"/>
              </a:spcBef>
              <a:spcAft>
                <a:spcPts val="0"/>
              </a:spcAft>
              <a:buSzPts val="1600"/>
              <a:buAutoNum type="arabicPeriod"/>
            </a:pPr>
            <a:r>
              <a:rPr lang="it" sz="1600"/>
              <a:t>Compute descriptor</a:t>
            </a:r>
            <a:endParaRPr sz="1600"/>
          </a:p>
          <a:p>
            <a:pPr indent="-330200" lvl="0" marL="457200" rtl="0" algn="l">
              <a:spcBef>
                <a:spcPts val="0"/>
              </a:spcBef>
              <a:spcAft>
                <a:spcPts val="0"/>
              </a:spcAft>
              <a:buSzPts val="1600"/>
              <a:buAutoNum type="arabicPeriod"/>
            </a:pPr>
            <a:r>
              <a:rPr lang="it" sz="1600"/>
              <a:t>Find matches </a:t>
            </a:r>
            <a:r>
              <a:rPr lang="it" sz="1600"/>
              <a:t>through</a:t>
            </a:r>
            <a:r>
              <a:rPr lang="it" sz="1600"/>
              <a:t> a similarity search with a database</a:t>
            </a:r>
            <a:endParaRPr sz="1600"/>
          </a:p>
          <a:p>
            <a:pPr indent="-330200" lvl="0" marL="457200" rtl="0" algn="l">
              <a:spcBef>
                <a:spcPts val="0"/>
              </a:spcBef>
              <a:spcAft>
                <a:spcPts val="0"/>
              </a:spcAft>
              <a:buSzPts val="1600"/>
              <a:buAutoNum type="arabicPeriod"/>
            </a:pPr>
            <a:r>
              <a:rPr lang="it" sz="1600"/>
              <a:t>Re-rank predictions using </a:t>
            </a:r>
            <a:r>
              <a:rPr b="1" lang="it" sz="1600"/>
              <a:t>image matching models </a:t>
            </a:r>
            <a:r>
              <a:rPr lang="it" sz="1600"/>
              <a:t>(optional)</a:t>
            </a:r>
            <a:endParaRPr sz="1600"/>
          </a:p>
          <a:p>
            <a:pPr indent="-330200" lvl="0" marL="457200" rtl="0" algn="l">
              <a:spcBef>
                <a:spcPts val="0"/>
              </a:spcBef>
              <a:spcAft>
                <a:spcPts val="0"/>
              </a:spcAft>
              <a:buSzPts val="1600"/>
              <a:buAutoNum type="arabicPeriod"/>
            </a:pPr>
            <a:r>
              <a:rPr lang="it" sz="1600"/>
              <a:t>Obtain the predicted location</a:t>
            </a:r>
            <a:endParaRPr sz="1600"/>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73" name="Google Shape;73;p15" title="vpr_pipeline.png"/>
          <p:cNvPicPr preferRelativeResize="0"/>
          <p:nvPr/>
        </p:nvPicPr>
        <p:blipFill>
          <a:blip r:embed="rId3">
            <a:alphaModFix/>
          </a:blip>
          <a:stretch>
            <a:fillRect/>
          </a:stretch>
        </p:blipFill>
        <p:spPr>
          <a:xfrm>
            <a:off x="311700" y="1152475"/>
            <a:ext cx="5247220" cy="341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t>retrieval: VPR methods</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Main VPR methods</a:t>
            </a:r>
            <a:endParaRPr/>
          </a:p>
          <a:p>
            <a:pPr indent="-317500" lvl="1" marL="914400" rtl="0" algn="l">
              <a:spcBef>
                <a:spcPts val="0"/>
              </a:spcBef>
              <a:spcAft>
                <a:spcPts val="0"/>
              </a:spcAft>
              <a:buSzPts val="1400"/>
              <a:buChar char="○"/>
            </a:pPr>
            <a:r>
              <a:rPr lang="it"/>
              <a:t>NetVLAD, CosPlace, MixVPR, MegaLoc</a:t>
            </a:r>
            <a:endParaRPr/>
          </a:p>
          <a:p>
            <a:pPr indent="-342900" lvl="0" marL="457200" rtl="0" algn="l">
              <a:spcBef>
                <a:spcPts val="0"/>
              </a:spcBef>
              <a:spcAft>
                <a:spcPts val="0"/>
              </a:spcAft>
              <a:buSzPts val="1800"/>
              <a:buChar char="●"/>
            </a:pPr>
            <a:r>
              <a:rPr lang="it"/>
              <a:t>The first step in the pipeline</a:t>
            </a:r>
            <a:endParaRPr/>
          </a:p>
          <a:p>
            <a:pPr indent="-317500" lvl="1" marL="914400" rtl="0" algn="l">
              <a:spcBef>
                <a:spcPts val="0"/>
              </a:spcBef>
              <a:spcAft>
                <a:spcPts val="0"/>
              </a:spcAft>
              <a:buSzPts val="1400"/>
              <a:buChar char="○"/>
            </a:pPr>
            <a:r>
              <a:rPr lang="it"/>
              <a:t>The image is compressed into a vector </a:t>
            </a:r>
            <a:r>
              <a:rPr lang="it"/>
              <a:t>containing</a:t>
            </a:r>
            <a:r>
              <a:rPr lang="it"/>
              <a:t> it’s informations. </a:t>
            </a:r>
            <a:endParaRPr/>
          </a:p>
          <a:p>
            <a:pPr indent="-317500" lvl="1" marL="914400" rtl="0" algn="l">
              <a:spcBef>
                <a:spcPts val="0"/>
              </a:spcBef>
              <a:spcAft>
                <a:spcPts val="0"/>
              </a:spcAft>
              <a:buSzPts val="1400"/>
              <a:buChar char="○"/>
            </a:pPr>
            <a:r>
              <a:rPr lang="it"/>
              <a:t>A K-Nearest Neighbors (KNN) algorithm is used to finds the first K most similar candidates in the database using the L2 distance as a metric</a:t>
            </a:r>
            <a:endParaRPr/>
          </a:p>
          <a:p>
            <a:pPr indent="-342900" lvl="0" marL="457200" rtl="0" algn="l">
              <a:spcBef>
                <a:spcPts val="0"/>
              </a:spcBef>
              <a:spcAft>
                <a:spcPts val="0"/>
              </a:spcAft>
              <a:buSzPts val="1800"/>
              <a:buChar char="●"/>
            </a:pPr>
            <a:r>
              <a:rPr lang="it"/>
              <a:t>Pros</a:t>
            </a:r>
            <a:endParaRPr/>
          </a:p>
          <a:p>
            <a:pPr indent="-317500" lvl="1" marL="914400" rtl="0" algn="l">
              <a:spcBef>
                <a:spcPts val="0"/>
              </a:spcBef>
              <a:spcAft>
                <a:spcPts val="0"/>
              </a:spcAft>
              <a:buSzPts val="1400"/>
              <a:buChar char="○"/>
            </a:pPr>
            <a:r>
              <a:rPr lang="it"/>
              <a:t>Fast and efficient computationally wise</a:t>
            </a:r>
            <a:endParaRPr/>
          </a:p>
          <a:p>
            <a:pPr indent="-342900" lvl="0" marL="457200" rtl="0" algn="l">
              <a:spcBef>
                <a:spcPts val="0"/>
              </a:spcBef>
              <a:spcAft>
                <a:spcPts val="0"/>
              </a:spcAft>
              <a:buSzPts val="1800"/>
              <a:buChar char="●"/>
            </a:pPr>
            <a:r>
              <a:rPr lang="it"/>
              <a:t>Cons</a:t>
            </a:r>
            <a:endParaRPr/>
          </a:p>
          <a:p>
            <a:pPr indent="-317500" lvl="1" marL="914400" rtl="0" algn="l">
              <a:spcBef>
                <a:spcPts val="0"/>
              </a:spcBef>
              <a:spcAft>
                <a:spcPts val="0"/>
              </a:spcAft>
              <a:buSzPts val="1400"/>
              <a:buChar char="○"/>
            </a:pPr>
            <a:r>
              <a:rPr lang="it"/>
              <a:t>Lacks </a:t>
            </a:r>
            <a:r>
              <a:rPr lang="it"/>
              <a:t>awareness</a:t>
            </a:r>
            <a:r>
              <a:rPr lang="it"/>
              <a:t> of geometrical details</a:t>
            </a:r>
            <a:endParaRPr/>
          </a:p>
        </p:txBody>
      </p:sp>
      <p:sp>
        <p:nvSpPr>
          <p:cNvPr id="80" name="Google Shape;8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refinement: image matching methods</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Main image matching methods</a:t>
            </a:r>
            <a:endParaRPr/>
          </a:p>
          <a:p>
            <a:pPr indent="-317500" lvl="1" marL="914400" rtl="0" algn="l">
              <a:spcBef>
                <a:spcPts val="0"/>
              </a:spcBef>
              <a:spcAft>
                <a:spcPts val="0"/>
              </a:spcAft>
              <a:buSzPts val="1400"/>
              <a:buChar char="○"/>
            </a:pPr>
            <a:r>
              <a:rPr lang="it"/>
              <a:t>Superglue, LoFTR, SuperPoint+LightGlue (SP+LG)</a:t>
            </a:r>
            <a:endParaRPr/>
          </a:p>
          <a:p>
            <a:pPr indent="-342900" lvl="0" marL="457200" rtl="0" algn="l">
              <a:spcBef>
                <a:spcPts val="0"/>
              </a:spcBef>
              <a:spcAft>
                <a:spcPts val="0"/>
              </a:spcAft>
              <a:buSzPts val="1800"/>
              <a:buChar char="●"/>
            </a:pPr>
            <a:r>
              <a:rPr lang="it"/>
              <a:t>The second step in the pipeline</a:t>
            </a:r>
            <a:endParaRPr/>
          </a:p>
          <a:p>
            <a:pPr indent="-317500" lvl="1" marL="914400" rtl="0" algn="l">
              <a:spcBef>
                <a:spcPts val="0"/>
              </a:spcBef>
              <a:spcAft>
                <a:spcPts val="0"/>
              </a:spcAft>
              <a:buSzPts val="1400"/>
              <a:buChar char="○"/>
            </a:pPr>
            <a:r>
              <a:rPr lang="it"/>
              <a:t>Local feature matching is applied only on top-K candidates found previously </a:t>
            </a:r>
            <a:endParaRPr/>
          </a:p>
          <a:p>
            <a:pPr indent="-317500" lvl="1" marL="914400" rtl="0" algn="l">
              <a:spcBef>
                <a:spcPts val="0"/>
              </a:spcBef>
              <a:spcAft>
                <a:spcPts val="0"/>
              </a:spcAft>
              <a:buSzPts val="1400"/>
              <a:buChar char="○"/>
            </a:pPr>
            <a:r>
              <a:rPr lang="it"/>
              <a:t>Applies geometric post-processing to find matching keypoints (</a:t>
            </a:r>
            <a:r>
              <a:rPr b="1" lang="it"/>
              <a:t>inliers</a:t>
            </a:r>
            <a:r>
              <a:rPr lang="it"/>
              <a:t>)</a:t>
            </a:r>
            <a:endParaRPr/>
          </a:p>
          <a:p>
            <a:pPr indent="-342900" lvl="0" marL="457200" rtl="0" algn="l">
              <a:spcBef>
                <a:spcPts val="0"/>
              </a:spcBef>
              <a:spcAft>
                <a:spcPts val="0"/>
              </a:spcAft>
              <a:buSzPts val="1800"/>
              <a:buChar char="●"/>
            </a:pPr>
            <a:r>
              <a:rPr lang="it"/>
              <a:t>Pros</a:t>
            </a:r>
            <a:endParaRPr/>
          </a:p>
          <a:p>
            <a:pPr indent="-317500" lvl="1" marL="914400" rtl="0" algn="l">
              <a:spcBef>
                <a:spcPts val="0"/>
              </a:spcBef>
              <a:spcAft>
                <a:spcPts val="0"/>
              </a:spcAft>
              <a:buSzPts val="1400"/>
              <a:buChar char="○"/>
            </a:pPr>
            <a:r>
              <a:rPr lang="it"/>
              <a:t>Extremely accurate</a:t>
            </a:r>
            <a:endParaRPr/>
          </a:p>
          <a:p>
            <a:pPr indent="-342900" lvl="0" marL="457200" rtl="0" algn="l">
              <a:spcBef>
                <a:spcPts val="0"/>
              </a:spcBef>
              <a:spcAft>
                <a:spcPts val="0"/>
              </a:spcAft>
              <a:buSzPts val="1800"/>
              <a:buChar char="●"/>
            </a:pPr>
            <a:r>
              <a:rPr lang="it"/>
              <a:t>Cons</a:t>
            </a:r>
            <a:endParaRPr/>
          </a:p>
          <a:p>
            <a:pPr indent="-317500" lvl="1" marL="914400" rtl="0" algn="l">
              <a:spcBef>
                <a:spcPts val="0"/>
              </a:spcBef>
              <a:spcAft>
                <a:spcPts val="0"/>
              </a:spcAft>
              <a:buSzPts val="1400"/>
              <a:buChar char="○"/>
            </a:pPr>
            <a:r>
              <a:rPr lang="it"/>
              <a:t>Computational bottleneck</a:t>
            </a:r>
            <a:endParaRPr/>
          </a:p>
          <a:p>
            <a:pPr indent="0" lvl="0" marL="0" rtl="0" algn="l">
              <a:spcBef>
                <a:spcPts val="1200"/>
              </a:spcBef>
              <a:spcAft>
                <a:spcPts val="1200"/>
              </a:spcAft>
              <a:buNone/>
            </a:pPr>
            <a:r>
              <a:t/>
            </a:r>
            <a:endParaRPr/>
          </a:p>
        </p:txBody>
      </p:sp>
      <p:sp>
        <p:nvSpPr>
          <p:cNvPr id="87" name="Google Shape;8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Our baseline analysis</a:t>
            </a:r>
            <a:endParaRPr/>
          </a:p>
        </p:txBody>
      </p:sp>
      <p:sp>
        <p:nvSpPr>
          <p:cNvPr id="93" name="Google Shape;93;p18"/>
          <p:cNvSpPr txBox="1"/>
          <p:nvPr>
            <p:ph idx="1" type="body"/>
          </p:nvPr>
        </p:nvSpPr>
        <p:spPr>
          <a:xfrm>
            <a:off x="0" y="1230300"/>
            <a:ext cx="2682900" cy="16266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t/>
            </a:r>
            <a:endParaRPr b="1"/>
          </a:p>
          <a:p>
            <a:pPr indent="0" lvl="0" marL="0" rtl="0" algn="l">
              <a:spcBef>
                <a:spcPts val="1200"/>
              </a:spcBef>
              <a:spcAft>
                <a:spcPts val="0"/>
              </a:spcAft>
              <a:buNone/>
            </a:pPr>
            <a:r>
              <a:t/>
            </a:r>
            <a:endParaRPr b="1"/>
          </a:p>
          <a:p>
            <a:pPr indent="0" lvl="0" marL="0" rtl="0" algn="l">
              <a:spcBef>
                <a:spcPts val="1200"/>
              </a:spcBef>
              <a:spcAft>
                <a:spcPts val="0"/>
              </a:spcAft>
              <a:buNone/>
            </a:pPr>
            <a:r>
              <a:t/>
            </a:r>
            <a:endParaRPr b="1"/>
          </a:p>
          <a:p>
            <a:pPr indent="0" lvl="0" marL="457200" rtl="0" algn="l">
              <a:spcBef>
                <a:spcPts val="1200"/>
              </a:spcBef>
              <a:spcAft>
                <a:spcPts val="0"/>
              </a:spcAft>
              <a:buNone/>
            </a:pPr>
            <a:r>
              <a:t/>
            </a:r>
            <a:endParaRPr b="1"/>
          </a:p>
          <a:p>
            <a:pPr indent="0" lvl="0" marL="0" rtl="0" algn="ctr">
              <a:spcBef>
                <a:spcPts val="1200"/>
              </a:spcBef>
              <a:spcAft>
                <a:spcPts val="1200"/>
              </a:spcAft>
              <a:buNone/>
            </a:pPr>
            <a:r>
              <a:t/>
            </a:r>
            <a:endParaRPr b="1"/>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95" name="Google Shape;95;p18"/>
          <p:cNvPicPr preferRelativeResize="0"/>
          <p:nvPr/>
        </p:nvPicPr>
        <p:blipFill>
          <a:blip r:embed="rId3">
            <a:alphaModFix/>
          </a:blip>
          <a:stretch>
            <a:fillRect/>
          </a:stretch>
        </p:blipFill>
        <p:spPr>
          <a:xfrm>
            <a:off x="1226563" y="1064088"/>
            <a:ext cx="6690877" cy="3323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Main takeaways</a:t>
            </a:r>
            <a:endParaRPr/>
          </a:p>
        </p:txBody>
      </p:sp>
      <p:sp>
        <p:nvSpPr>
          <p:cNvPr id="101" name="Google Shape;101;p19"/>
          <p:cNvSpPr txBox="1"/>
          <p:nvPr>
            <p:ph idx="1" type="body"/>
          </p:nvPr>
        </p:nvSpPr>
        <p:spPr>
          <a:xfrm>
            <a:off x="311700" y="1152475"/>
            <a:ext cx="8520600" cy="34167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it"/>
              <a:t>Effectiveness of re-ranking                                Computational costs</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rPr b="1" lang="it"/>
              <a:t>       Diminishing returns                              Dataset-dependent behaviour     </a:t>
            </a:r>
            <a:endParaRPr/>
          </a:p>
          <a:p>
            <a:pPr indent="0" lvl="0" marL="457200" rtl="0" algn="ctr">
              <a:spcBef>
                <a:spcPts val="1200"/>
              </a:spcBef>
              <a:spcAft>
                <a:spcPts val="0"/>
              </a:spcAft>
              <a:buNone/>
            </a:pPr>
            <a:r>
              <a:t/>
            </a:r>
            <a:endParaRPr/>
          </a:p>
          <a:p>
            <a:pPr indent="0" lvl="0" marL="457200" rtl="0" algn="l">
              <a:spcBef>
                <a:spcPts val="1200"/>
              </a:spcBef>
              <a:spcAft>
                <a:spcPts val="1200"/>
              </a:spcAft>
              <a:buNone/>
            </a:pPr>
            <a:r>
              <a:t/>
            </a:r>
            <a:endParaRPr/>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03" name="Google Shape;103;p19"/>
          <p:cNvPicPr preferRelativeResize="0"/>
          <p:nvPr/>
        </p:nvPicPr>
        <p:blipFill>
          <a:blip r:embed="rId3">
            <a:alphaModFix/>
          </a:blip>
          <a:stretch>
            <a:fillRect/>
          </a:stretch>
        </p:blipFill>
        <p:spPr>
          <a:xfrm>
            <a:off x="311700" y="1777163"/>
            <a:ext cx="4111125" cy="521200"/>
          </a:xfrm>
          <a:prstGeom prst="rect">
            <a:avLst/>
          </a:prstGeom>
          <a:noFill/>
          <a:ln>
            <a:noFill/>
          </a:ln>
        </p:spPr>
      </p:pic>
      <p:pic>
        <p:nvPicPr>
          <p:cNvPr id="104" name="Google Shape;104;p19"/>
          <p:cNvPicPr preferRelativeResize="0"/>
          <p:nvPr/>
        </p:nvPicPr>
        <p:blipFill>
          <a:blip r:embed="rId4">
            <a:alphaModFix/>
          </a:blip>
          <a:stretch>
            <a:fillRect/>
          </a:stretch>
        </p:blipFill>
        <p:spPr>
          <a:xfrm>
            <a:off x="7513625" y="1557599"/>
            <a:ext cx="865825" cy="960350"/>
          </a:xfrm>
          <a:prstGeom prst="rect">
            <a:avLst/>
          </a:prstGeom>
          <a:noFill/>
          <a:ln>
            <a:noFill/>
          </a:ln>
        </p:spPr>
      </p:pic>
      <p:pic>
        <p:nvPicPr>
          <p:cNvPr id="105" name="Google Shape;105;p19"/>
          <p:cNvPicPr preferRelativeResize="0"/>
          <p:nvPr/>
        </p:nvPicPr>
        <p:blipFill>
          <a:blip r:embed="rId5">
            <a:alphaModFix/>
          </a:blip>
          <a:stretch>
            <a:fillRect/>
          </a:stretch>
        </p:blipFill>
        <p:spPr>
          <a:xfrm>
            <a:off x="311700" y="3202125"/>
            <a:ext cx="4380629" cy="572700"/>
          </a:xfrm>
          <a:prstGeom prst="rect">
            <a:avLst/>
          </a:prstGeom>
          <a:noFill/>
          <a:ln>
            <a:noFill/>
          </a:ln>
        </p:spPr>
      </p:pic>
      <p:pic>
        <p:nvPicPr>
          <p:cNvPr id="106" name="Google Shape;106;p19"/>
          <p:cNvPicPr preferRelativeResize="0"/>
          <p:nvPr/>
        </p:nvPicPr>
        <p:blipFill>
          <a:blip r:embed="rId6">
            <a:alphaModFix/>
          </a:blip>
          <a:stretch>
            <a:fillRect/>
          </a:stretch>
        </p:blipFill>
        <p:spPr>
          <a:xfrm>
            <a:off x="5242238" y="3346463"/>
            <a:ext cx="3560500" cy="284025"/>
          </a:xfrm>
          <a:prstGeom prst="rect">
            <a:avLst/>
          </a:prstGeom>
          <a:noFill/>
          <a:ln>
            <a:noFill/>
          </a:ln>
        </p:spPr>
      </p:pic>
      <p:sp>
        <p:nvSpPr>
          <p:cNvPr id="107" name="Google Shape;107;p19"/>
          <p:cNvSpPr txBox="1"/>
          <p:nvPr/>
        </p:nvSpPr>
        <p:spPr>
          <a:xfrm>
            <a:off x="2243100" y="4048075"/>
            <a:ext cx="4657800" cy="5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800">
                <a:solidFill>
                  <a:schemeClr val="dk2"/>
                </a:solidFill>
              </a:rPr>
              <a:t>Blindly applying re-ranking is very inefficient</a:t>
            </a:r>
            <a:endParaRPr sz="1800">
              <a:solidFill>
                <a:schemeClr val="dk2"/>
              </a:solidFill>
            </a:endParaRPr>
          </a:p>
        </p:txBody>
      </p:sp>
      <p:pic>
        <p:nvPicPr>
          <p:cNvPr id="108" name="Google Shape;108;p19"/>
          <p:cNvPicPr preferRelativeResize="0"/>
          <p:nvPr/>
        </p:nvPicPr>
        <p:blipFill>
          <a:blip r:embed="rId7">
            <a:alphaModFix/>
          </a:blip>
          <a:stretch>
            <a:fillRect/>
          </a:stretch>
        </p:blipFill>
        <p:spPr>
          <a:xfrm>
            <a:off x="5385461" y="3057823"/>
            <a:ext cx="3274049" cy="210900"/>
          </a:xfrm>
          <a:prstGeom prst="rect">
            <a:avLst/>
          </a:prstGeom>
          <a:noFill/>
          <a:ln>
            <a:noFill/>
          </a:ln>
        </p:spPr>
      </p:pic>
      <p:pic>
        <p:nvPicPr>
          <p:cNvPr id="109" name="Google Shape;109;p19"/>
          <p:cNvPicPr preferRelativeResize="0"/>
          <p:nvPr/>
        </p:nvPicPr>
        <p:blipFill>
          <a:blip r:embed="rId8">
            <a:alphaModFix/>
          </a:blip>
          <a:stretch>
            <a:fillRect/>
          </a:stretch>
        </p:blipFill>
        <p:spPr>
          <a:xfrm>
            <a:off x="5259720" y="1573110"/>
            <a:ext cx="2271375" cy="8502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Method Overview: The Adaptive Strategy </a:t>
            </a:r>
            <a:endParaRPr/>
          </a:p>
        </p:txBody>
      </p:sp>
      <p:sp>
        <p:nvSpPr>
          <p:cNvPr id="115" name="Google Shape;11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6" name="Google Shape;116;p20"/>
          <p:cNvSpPr/>
          <p:nvPr/>
        </p:nvSpPr>
        <p:spPr>
          <a:xfrm>
            <a:off x="319200" y="2554125"/>
            <a:ext cx="1791900" cy="572700"/>
          </a:xfrm>
          <a:prstGeom prst="roundRect">
            <a:avLst>
              <a:gd fmla="val 16667" name="adj"/>
            </a:avLst>
          </a:prstGeom>
          <a:solidFill>
            <a:srgbClr val="E0F2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Inliers Analysis </a:t>
            </a:r>
            <a:endParaRPr/>
          </a:p>
        </p:txBody>
      </p:sp>
      <p:sp>
        <p:nvSpPr>
          <p:cNvPr id="117" name="Google Shape;117;p20"/>
          <p:cNvSpPr/>
          <p:nvPr/>
        </p:nvSpPr>
        <p:spPr>
          <a:xfrm>
            <a:off x="2564550" y="2554125"/>
            <a:ext cx="1791900" cy="572700"/>
          </a:xfrm>
          <a:prstGeom prst="roundRect">
            <a:avLst>
              <a:gd fmla="val 16667" name="adj"/>
            </a:avLst>
          </a:prstGeom>
          <a:solidFill>
            <a:srgbClr val="E0F2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Logistic Regression </a:t>
            </a:r>
            <a:r>
              <a:rPr lang="it"/>
              <a:t> </a:t>
            </a:r>
            <a:endParaRPr/>
          </a:p>
        </p:txBody>
      </p:sp>
      <p:sp>
        <p:nvSpPr>
          <p:cNvPr id="118" name="Google Shape;118;p20"/>
          <p:cNvSpPr/>
          <p:nvPr/>
        </p:nvSpPr>
        <p:spPr>
          <a:xfrm>
            <a:off x="4809900" y="2554125"/>
            <a:ext cx="1791900" cy="572700"/>
          </a:xfrm>
          <a:prstGeom prst="roundRect">
            <a:avLst>
              <a:gd fmla="val 16667" name="adj"/>
            </a:avLst>
          </a:prstGeom>
          <a:solidFill>
            <a:srgbClr val="E0F2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Threshold Validation </a:t>
            </a:r>
            <a:endParaRPr/>
          </a:p>
        </p:txBody>
      </p:sp>
      <p:sp>
        <p:nvSpPr>
          <p:cNvPr id="119" name="Google Shape;119;p20"/>
          <p:cNvSpPr/>
          <p:nvPr/>
        </p:nvSpPr>
        <p:spPr>
          <a:xfrm>
            <a:off x="7055250" y="2554125"/>
            <a:ext cx="1791900" cy="572700"/>
          </a:xfrm>
          <a:prstGeom prst="roundRect">
            <a:avLst>
              <a:gd fmla="val 16667" name="adj"/>
            </a:avLst>
          </a:prstGeom>
          <a:solidFill>
            <a:srgbClr val="E0F2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Transfer Analysis </a:t>
            </a:r>
            <a:r>
              <a:rPr lang="it"/>
              <a:t> </a:t>
            </a:r>
            <a:endParaRPr/>
          </a:p>
        </p:txBody>
      </p:sp>
      <p:cxnSp>
        <p:nvCxnSpPr>
          <p:cNvPr id="120" name="Google Shape;120;p20"/>
          <p:cNvCxnSpPr>
            <a:endCxn id="117" idx="1"/>
          </p:cNvCxnSpPr>
          <p:nvPr/>
        </p:nvCxnSpPr>
        <p:spPr>
          <a:xfrm flipH="1" rot="10800000">
            <a:off x="2121450" y="2840475"/>
            <a:ext cx="443100" cy="75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20"/>
          <p:cNvCxnSpPr>
            <a:endCxn id="118" idx="1"/>
          </p:cNvCxnSpPr>
          <p:nvPr/>
        </p:nvCxnSpPr>
        <p:spPr>
          <a:xfrm flipH="1" rot="10800000">
            <a:off x="4378800" y="2840475"/>
            <a:ext cx="431100" cy="7500"/>
          </a:xfrm>
          <a:prstGeom prst="straightConnector1">
            <a:avLst/>
          </a:prstGeom>
          <a:noFill/>
          <a:ln cap="flat" cmpd="sng" w="9525">
            <a:solidFill>
              <a:schemeClr val="dk2"/>
            </a:solidFill>
            <a:prstDash val="solid"/>
            <a:round/>
            <a:headEnd len="med" w="med" type="none"/>
            <a:tailEnd len="med" w="med" type="triangle"/>
          </a:ln>
        </p:spPr>
      </p:cxnSp>
      <p:cxnSp>
        <p:nvCxnSpPr>
          <p:cNvPr id="122" name="Google Shape;122;p20"/>
          <p:cNvCxnSpPr>
            <a:stCxn id="118" idx="3"/>
            <a:endCxn id="119" idx="1"/>
          </p:cNvCxnSpPr>
          <p:nvPr/>
        </p:nvCxnSpPr>
        <p:spPr>
          <a:xfrm>
            <a:off x="6601800" y="2840475"/>
            <a:ext cx="453600" cy="0"/>
          </a:xfrm>
          <a:prstGeom prst="straightConnector1">
            <a:avLst/>
          </a:prstGeom>
          <a:noFill/>
          <a:ln cap="flat" cmpd="sng" w="9525">
            <a:solidFill>
              <a:schemeClr val="dk2"/>
            </a:solidFill>
            <a:prstDash val="solid"/>
            <a:round/>
            <a:headEnd len="med" w="med" type="none"/>
            <a:tailEnd len="med" w="med" type="triangle"/>
          </a:ln>
        </p:spPr>
      </p:cxnSp>
      <p:sp>
        <p:nvSpPr>
          <p:cNvPr id="123" name="Google Shape;123;p20"/>
          <p:cNvSpPr txBox="1"/>
          <p:nvPr/>
        </p:nvSpPr>
        <p:spPr>
          <a:xfrm>
            <a:off x="334050" y="1425175"/>
            <a:ext cx="8520600" cy="7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chemeClr val="dk2"/>
                </a:solidFill>
              </a:rPr>
              <a:t>An adaptive re-ranking strategy that selectively applies expensive geometric verification only when necessary</a:t>
            </a:r>
            <a:r>
              <a:rPr lang="it"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24" name="Google Shape;124;p20"/>
          <p:cNvSpPr txBox="1"/>
          <p:nvPr/>
        </p:nvSpPr>
        <p:spPr>
          <a:xfrm>
            <a:off x="334050" y="3534275"/>
            <a:ext cx="78795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2"/>
              </a:buClr>
              <a:buSzPts val="1600"/>
              <a:buChar char="●"/>
            </a:pPr>
            <a:r>
              <a:rPr lang="it" sz="1600">
                <a:solidFill>
                  <a:schemeClr val="dk2"/>
                </a:solidFill>
              </a:rPr>
              <a:t>Vpr models: MixVPR and CosPlace</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Image matchers: LoFTR and SuperGlue</a:t>
            </a:r>
            <a:endParaRPr sz="16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Inliers Analysis: The Confidence Signal </a:t>
            </a:r>
            <a:endParaRPr/>
          </a:p>
        </p:txBody>
      </p:sp>
      <p:sp>
        <p:nvSpPr>
          <p:cNvPr id="130" name="Google Shape;13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31" name="Google Shape;131;p21"/>
          <p:cNvPicPr preferRelativeResize="0"/>
          <p:nvPr/>
        </p:nvPicPr>
        <p:blipFill>
          <a:blip r:embed="rId3">
            <a:alphaModFix/>
          </a:blip>
          <a:stretch>
            <a:fillRect/>
          </a:stretch>
        </p:blipFill>
        <p:spPr>
          <a:xfrm>
            <a:off x="244475" y="1017725"/>
            <a:ext cx="4205876" cy="2428651"/>
          </a:xfrm>
          <a:prstGeom prst="rect">
            <a:avLst/>
          </a:prstGeom>
          <a:noFill/>
          <a:ln>
            <a:noFill/>
          </a:ln>
        </p:spPr>
      </p:pic>
      <p:pic>
        <p:nvPicPr>
          <p:cNvPr id="132" name="Google Shape;132;p21"/>
          <p:cNvPicPr preferRelativeResize="0"/>
          <p:nvPr/>
        </p:nvPicPr>
        <p:blipFill>
          <a:blip r:embed="rId4">
            <a:alphaModFix/>
          </a:blip>
          <a:stretch>
            <a:fillRect/>
          </a:stretch>
        </p:blipFill>
        <p:spPr>
          <a:xfrm>
            <a:off x="4693625" y="1017725"/>
            <a:ext cx="4205899" cy="2428651"/>
          </a:xfrm>
          <a:prstGeom prst="rect">
            <a:avLst/>
          </a:prstGeom>
          <a:noFill/>
          <a:ln>
            <a:noFill/>
          </a:ln>
        </p:spPr>
      </p:pic>
      <p:sp>
        <p:nvSpPr>
          <p:cNvPr id="133" name="Google Shape;133;p21"/>
          <p:cNvSpPr txBox="1"/>
          <p:nvPr/>
        </p:nvSpPr>
        <p:spPr>
          <a:xfrm>
            <a:off x="619300" y="3446375"/>
            <a:ext cx="7345800" cy="1116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it" sz="1600">
                <a:solidFill>
                  <a:schemeClr val="dk2"/>
                </a:solidFill>
              </a:rPr>
              <a:t>Correct queries typically have 2 to 3 times more inliers than incorrect queries</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The bimodal separation between correct and incorrect queries is robust across different matchers and datasets. </a:t>
            </a:r>
            <a:endParaRPr sz="16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Inliers Analysis: The Confidence Signal </a:t>
            </a:r>
            <a:endParaRPr/>
          </a:p>
        </p:txBody>
      </p:sp>
      <p:sp>
        <p:nvSpPr>
          <p:cNvPr id="139" name="Google Shape;13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40" name="Google Shape;140;p22"/>
          <p:cNvPicPr preferRelativeResize="0"/>
          <p:nvPr/>
        </p:nvPicPr>
        <p:blipFill>
          <a:blip r:embed="rId3">
            <a:alphaModFix/>
          </a:blip>
          <a:stretch>
            <a:fillRect/>
          </a:stretch>
        </p:blipFill>
        <p:spPr>
          <a:xfrm>
            <a:off x="244475" y="1017725"/>
            <a:ext cx="4205876" cy="2428651"/>
          </a:xfrm>
          <a:prstGeom prst="rect">
            <a:avLst/>
          </a:prstGeom>
          <a:noFill/>
          <a:ln>
            <a:noFill/>
          </a:ln>
        </p:spPr>
      </p:pic>
      <p:sp>
        <p:nvSpPr>
          <p:cNvPr id="141" name="Google Shape;141;p22"/>
          <p:cNvSpPr txBox="1"/>
          <p:nvPr/>
        </p:nvSpPr>
        <p:spPr>
          <a:xfrm>
            <a:off x="619300" y="3446375"/>
            <a:ext cx="7345800" cy="1116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it" sz="1600">
                <a:solidFill>
                  <a:schemeClr val="dk2"/>
                </a:solidFill>
              </a:rPr>
              <a:t>Correct queries typically have 2 to 3 times more inliers than incorrect queries.</a:t>
            </a:r>
            <a:endParaRPr sz="1600">
              <a:solidFill>
                <a:schemeClr val="dk2"/>
              </a:solidFill>
            </a:endParaRPr>
          </a:p>
          <a:p>
            <a:pPr indent="-330200" lvl="0" marL="457200" rtl="0" algn="l">
              <a:spcBef>
                <a:spcPts val="0"/>
              </a:spcBef>
              <a:spcAft>
                <a:spcPts val="0"/>
              </a:spcAft>
              <a:buClr>
                <a:schemeClr val="dk2"/>
              </a:buClr>
              <a:buSzPts val="1600"/>
              <a:buChar char="●"/>
            </a:pPr>
            <a:r>
              <a:rPr lang="it" sz="1600">
                <a:solidFill>
                  <a:schemeClr val="dk2"/>
                </a:solidFill>
              </a:rPr>
              <a:t>The bimodal separation between correct and incorrect queries is robust across different matchers and datasets. </a:t>
            </a:r>
            <a:endParaRPr sz="1600">
              <a:solidFill>
                <a:schemeClr val="dk2"/>
              </a:solidFill>
            </a:endParaRPr>
          </a:p>
        </p:txBody>
      </p:sp>
      <p:pic>
        <p:nvPicPr>
          <p:cNvPr id="142" name="Google Shape;142;p22"/>
          <p:cNvPicPr preferRelativeResize="0"/>
          <p:nvPr/>
        </p:nvPicPr>
        <p:blipFill>
          <a:blip r:embed="rId4">
            <a:alphaModFix/>
          </a:blip>
          <a:stretch>
            <a:fillRect/>
          </a:stretch>
        </p:blipFill>
        <p:spPr>
          <a:xfrm>
            <a:off x="4733200" y="1017726"/>
            <a:ext cx="4205876" cy="24286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Inliers Analysis: Statistical Insights </a:t>
            </a:r>
            <a:endParaRPr/>
          </a:p>
        </p:txBody>
      </p:sp>
      <p:sp>
        <p:nvSpPr>
          <p:cNvPr id="148" name="Google Shape;14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49" name="Google Shape;149;p23"/>
          <p:cNvSpPr txBox="1"/>
          <p:nvPr/>
        </p:nvSpPr>
        <p:spPr>
          <a:xfrm>
            <a:off x="550900" y="1156550"/>
            <a:ext cx="6607200" cy="24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50" name="Google Shape;150;p23"/>
          <p:cNvPicPr preferRelativeResize="0"/>
          <p:nvPr/>
        </p:nvPicPr>
        <p:blipFill>
          <a:blip r:embed="rId3">
            <a:alphaModFix/>
          </a:blip>
          <a:stretch>
            <a:fillRect/>
          </a:stretch>
        </p:blipFill>
        <p:spPr>
          <a:xfrm>
            <a:off x="1338414" y="1156550"/>
            <a:ext cx="6467175" cy="1697356"/>
          </a:xfrm>
          <a:prstGeom prst="rect">
            <a:avLst/>
          </a:prstGeom>
          <a:noFill/>
          <a:ln>
            <a:noFill/>
          </a:ln>
        </p:spPr>
      </p:pic>
      <p:sp>
        <p:nvSpPr>
          <p:cNvPr id="151" name="Google Shape;151;p23"/>
          <p:cNvSpPr txBox="1"/>
          <p:nvPr/>
        </p:nvSpPr>
        <p:spPr>
          <a:xfrm>
            <a:off x="311700" y="2853900"/>
            <a:ext cx="7432500" cy="14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50">
                <a:solidFill>
                  <a:schemeClr val="dk2"/>
                </a:solidFill>
              </a:rPr>
              <a:t>Day vs. Night Discrepancy: </a:t>
            </a:r>
            <a:endParaRPr sz="1650">
              <a:solidFill>
                <a:schemeClr val="dk2"/>
              </a:solidFill>
            </a:endParaRPr>
          </a:p>
          <a:p>
            <a:pPr indent="-333375" lvl="0" marL="457200" rtl="0" algn="l">
              <a:lnSpc>
                <a:spcPct val="150000"/>
              </a:lnSpc>
              <a:spcBef>
                <a:spcPts val="0"/>
              </a:spcBef>
              <a:spcAft>
                <a:spcPts val="0"/>
              </a:spcAft>
              <a:buClr>
                <a:schemeClr val="dk2"/>
              </a:buClr>
              <a:buSzPts val="1650"/>
              <a:buChar char="●"/>
            </a:pPr>
            <a:r>
              <a:rPr lang="it" sz="1650">
                <a:solidFill>
                  <a:schemeClr val="dk2"/>
                </a:solidFill>
              </a:rPr>
              <a:t>Nighttime conditions severely reduce true-positive inliers.</a:t>
            </a:r>
            <a:endParaRPr sz="1650">
              <a:solidFill>
                <a:schemeClr val="dk2"/>
              </a:solidFill>
            </a:endParaRPr>
          </a:p>
          <a:p>
            <a:pPr indent="-333375" lvl="0" marL="457200" rtl="0" algn="l">
              <a:lnSpc>
                <a:spcPct val="150000"/>
              </a:lnSpc>
              <a:spcBef>
                <a:spcPts val="0"/>
              </a:spcBef>
              <a:spcAft>
                <a:spcPts val="0"/>
              </a:spcAft>
              <a:buClr>
                <a:schemeClr val="dk2"/>
              </a:buClr>
              <a:buSzPts val="1650"/>
              <a:buChar char="●"/>
            </a:pPr>
            <a:r>
              <a:rPr lang="it" sz="1650">
                <a:solidFill>
                  <a:schemeClr val="dk2"/>
                </a:solidFill>
              </a:rPr>
              <a:t>For LoFTR, the median collapses from 121 to 67.5.</a:t>
            </a:r>
            <a:endParaRPr sz="1650">
              <a:solidFill>
                <a:schemeClr val="dk2"/>
              </a:solidFill>
            </a:endParaRPr>
          </a:p>
          <a:p>
            <a:pPr indent="0" lvl="0" marL="0" rtl="0" algn="l">
              <a:spcBef>
                <a:spcPts val="0"/>
              </a:spcBef>
              <a:spcAft>
                <a:spcPts val="0"/>
              </a:spcAft>
              <a:buNone/>
            </a:pPr>
            <a:r>
              <a:rPr lang="it" sz="1650">
                <a:solidFill>
                  <a:schemeClr val="dk2"/>
                </a:solidFill>
              </a:rPr>
              <a:t>This high variability justifies training distinct models for each dataset-matcher pair </a:t>
            </a:r>
            <a:endParaRPr sz="165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Predicting Difficulty: The Model </a:t>
            </a:r>
            <a:endParaRPr/>
          </a:p>
        </p:txBody>
      </p:sp>
      <p:sp>
        <p:nvSpPr>
          <p:cNvPr id="157" name="Google Shape;157;p24"/>
          <p:cNvSpPr txBox="1"/>
          <p:nvPr>
            <p:ph idx="1" type="body"/>
          </p:nvPr>
        </p:nvSpPr>
        <p:spPr>
          <a:xfrm>
            <a:off x="311700" y="1152475"/>
            <a:ext cx="52734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it" sz="1650"/>
              <a:t>Why Logistic Regression? </a:t>
            </a:r>
            <a:endParaRPr sz="1650"/>
          </a:p>
          <a:p>
            <a:pPr indent="-325517" lvl="0" marL="457200" rtl="0" algn="l">
              <a:lnSpc>
                <a:spcPct val="150000"/>
              </a:lnSpc>
              <a:spcBef>
                <a:spcPts val="1200"/>
              </a:spcBef>
              <a:spcAft>
                <a:spcPts val="0"/>
              </a:spcAft>
              <a:buSzPct val="100000"/>
              <a:buChar char="●"/>
            </a:pPr>
            <a:r>
              <a:rPr lang="it" sz="1650"/>
              <a:t>The one-dimensional input space prevents overfitting. </a:t>
            </a:r>
            <a:endParaRPr sz="1650"/>
          </a:p>
          <a:p>
            <a:pPr indent="-325517" lvl="0" marL="457200" rtl="0" algn="l">
              <a:lnSpc>
                <a:spcPct val="150000"/>
              </a:lnSpc>
              <a:spcBef>
                <a:spcPts val="0"/>
              </a:spcBef>
              <a:spcAft>
                <a:spcPts val="0"/>
              </a:spcAft>
              <a:buSzPct val="100000"/>
              <a:buChar char="●"/>
            </a:pPr>
            <a:r>
              <a:rPr lang="it" sz="1650"/>
              <a:t>The probabilistic output enables principled threshold selection.</a:t>
            </a:r>
            <a:endParaRPr sz="1650"/>
          </a:p>
          <a:p>
            <a:pPr indent="-325517" lvl="0" marL="457200" rtl="0" algn="l">
              <a:lnSpc>
                <a:spcPct val="150000"/>
              </a:lnSpc>
              <a:spcBef>
                <a:spcPts val="0"/>
              </a:spcBef>
              <a:spcAft>
                <a:spcPts val="0"/>
              </a:spcAft>
              <a:buSzPct val="100000"/>
              <a:buChar char="●"/>
            </a:pPr>
            <a:r>
              <a:rPr lang="it" sz="1650"/>
              <a:t>The inference process is computationally efficient.</a:t>
            </a:r>
            <a:endParaRPr sz="1650"/>
          </a:p>
          <a:p>
            <a:pPr indent="0" lvl="0" marL="0" rtl="0" algn="l">
              <a:lnSpc>
                <a:spcPct val="150000"/>
              </a:lnSpc>
              <a:spcBef>
                <a:spcPts val="1200"/>
              </a:spcBef>
              <a:spcAft>
                <a:spcPts val="0"/>
              </a:spcAft>
              <a:buNone/>
            </a:pPr>
            <a:r>
              <a:rPr lang="it" sz="1650"/>
              <a:t>Training setup:</a:t>
            </a:r>
            <a:endParaRPr sz="1650"/>
          </a:p>
          <a:p>
            <a:pPr indent="-325517" lvl="0" marL="457200" rtl="0" algn="l">
              <a:lnSpc>
                <a:spcPct val="150000"/>
              </a:lnSpc>
              <a:spcBef>
                <a:spcPts val="1200"/>
              </a:spcBef>
              <a:spcAft>
                <a:spcPts val="0"/>
              </a:spcAft>
              <a:buSzPct val="100000"/>
              <a:buChar char="●"/>
            </a:pPr>
            <a:r>
              <a:rPr lang="it" sz="1650"/>
              <a:t>Input(x): Inlier count with the top-1 retrieved image </a:t>
            </a:r>
            <a:endParaRPr sz="1650"/>
          </a:p>
          <a:p>
            <a:pPr indent="-325517" lvl="0" marL="457200" rtl="0" algn="l">
              <a:lnSpc>
                <a:spcPct val="150000"/>
              </a:lnSpc>
              <a:spcBef>
                <a:spcPts val="0"/>
              </a:spcBef>
              <a:spcAft>
                <a:spcPts val="0"/>
              </a:spcAft>
              <a:buSzPct val="100000"/>
              <a:buChar char="●"/>
            </a:pPr>
            <a:r>
              <a:rPr lang="it" sz="1650"/>
              <a:t>Target (y ⋲ {0,1}): Ground-truth correctness </a:t>
            </a:r>
            <a:endParaRPr sz="1650"/>
          </a:p>
        </p:txBody>
      </p:sp>
      <p:sp>
        <p:nvSpPr>
          <p:cNvPr id="158" name="Google Shape;15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59" name="Google Shape;159;p24"/>
          <p:cNvSpPr txBox="1"/>
          <p:nvPr/>
        </p:nvSpPr>
        <p:spPr>
          <a:xfrm>
            <a:off x="6651975" y="1566925"/>
            <a:ext cx="2913900" cy="258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chemeClr val="dk2"/>
              </a:solidFill>
            </a:endParaRPr>
          </a:p>
        </p:txBody>
      </p:sp>
      <p:pic>
        <p:nvPicPr>
          <p:cNvPr id="160" name="Google Shape;160;p24"/>
          <p:cNvPicPr preferRelativeResize="0"/>
          <p:nvPr/>
        </p:nvPicPr>
        <p:blipFill>
          <a:blip r:embed="rId3">
            <a:alphaModFix/>
          </a:blip>
          <a:stretch>
            <a:fillRect/>
          </a:stretch>
        </p:blipFill>
        <p:spPr>
          <a:xfrm>
            <a:off x="5306400" y="2297548"/>
            <a:ext cx="3714750" cy="10858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 Training &amp; Evaluation </a:t>
            </a:r>
            <a:endParaRPr/>
          </a:p>
        </p:txBody>
      </p:sp>
      <p:sp>
        <p:nvSpPr>
          <p:cNvPr id="166" name="Google Shape;166;p25"/>
          <p:cNvSpPr txBox="1"/>
          <p:nvPr>
            <p:ph idx="1" type="body"/>
          </p:nvPr>
        </p:nvSpPr>
        <p:spPr>
          <a:xfrm>
            <a:off x="311700" y="1228025"/>
            <a:ext cx="8520600" cy="295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650"/>
              <a:t>Dataset specific training:</a:t>
            </a:r>
            <a:endParaRPr sz="1650"/>
          </a:p>
          <a:p>
            <a:pPr indent="-333375" lvl="0" marL="457200" rtl="0" algn="l">
              <a:spcBef>
                <a:spcPts val="1200"/>
              </a:spcBef>
              <a:spcAft>
                <a:spcPts val="0"/>
              </a:spcAft>
              <a:buSzPts val="1650"/>
              <a:buChar char="●"/>
            </a:pPr>
            <a:r>
              <a:rPr lang="it" sz="1650"/>
              <a:t>Separate, dataset-specific models are necessary (Svox_Sun/Night x LoFTR/SuperGlue)</a:t>
            </a:r>
            <a:endParaRPr sz="1650"/>
          </a:p>
          <a:p>
            <a:pPr indent="-333375" lvl="0" marL="457200" rtl="0" algn="l">
              <a:spcBef>
                <a:spcPts val="0"/>
              </a:spcBef>
              <a:spcAft>
                <a:spcPts val="0"/>
              </a:spcAft>
              <a:buSzPts val="1650"/>
              <a:buChar char="●"/>
            </a:pPr>
            <a:r>
              <a:rPr lang="it" sz="1650"/>
              <a:t>Inlier distributions vary significantly between daytime and nighttime conditions </a:t>
            </a:r>
            <a:endParaRPr sz="1650"/>
          </a:p>
          <a:p>
            <a:pPr indent="0" lvl="0" marL="0" rtl="0" algn="l">
              <a:spcBef>
                <a:spcPts val="1200"/>
              </a:spcBef>
              <a:spcAft>
                <a:spcPts val="0"/>
              </a:spcAft>
              <a:buNone/>
            </a:pPr>
            <a:r>
              <a:rPr lang="it" sz="1650"/>
              <a:t>Models are evaluated using AUPRC and AUC-ROC :</a:t>
            </a:r>
            <a:endParaRPr sz="1650"/>
          </a:p>
          <a:p>
            <a:pPr indent="0" lvl="0" marL="0" rtl="0" algn="l">
              <a:spcBef>
                <a:spcPts val="1200"/>
              </a:spcBef>
              <a:spcAft>
                <a:spcPts val="1200"/>
              </a:spcAft>
              <a:buNone/>
            </a:pPr>
            <a:r>
              <a:t/>
            </a:r>
            <a:endParaRPr/>
          </a:p>
        </p:txBody>
      </p:sp>
      <p:sp>
        <p:nvSpPr>
          <p:cNvPr id="167" name="Google Shape;16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68" name="Google Shape;168;p25"/>
          <p:cNvSpPr txBox="1"/>
          <p:nvPr/>
        </p:nvSpPr>
        <p:spPr>
          <a:xfrm>
            <a:off x="1493100" y="3126425"/>
            <a:ext cx="28044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accent5"/>
                </a:solidFill>
              </a:rPr>
              <a:t>AUPRC</a:t>
            </a:r>
            <a:endParaRPr b="1" sz="1800">
              <a:solidFill>
                <a:schemeClr val="accent5"/>
              </a:solidFill>
            </a:endParaRPr>
          </a:p>
          <a:p>
            <a:pPr indent="0" lvl="0" marL="0" rtl="0" algn="ctr">
              <a:spcBef>
                <a:spcPts val="0"/>
              </a:spcBef>
              <a:spcAft>
                <a:spcPts val="0"/>
              </a:spcAft>
              <a:buNone/>
            </a:pPr>
            <a:r>
              <a:rPr lang="it" sz="1800">
                <a:solidFill>
                  <a:schemeClr val="dk2"/>
                </a:solidFill>
              </a:rPr>
              <a:t>0.91 - 0.98</a:t>
            </a:r>
            <a:endParaRPr sz="1800">
              <a:solidFill>
                <a:schemeClr val="dk2"/>
              </a:solidFill>
            </a:endParaRPr>
          </a:p>
        </p:txBody>
      </p:sp>
      <p:sp>
        <p:nvSpPr>
          <p:cNvPr id="169" name="Google Shape;169;p25"/>
          <p:cNvSpPr txBox="1"/>
          <p:nvPr/>
        </p:nvSpPr>
        <p:spPr>
          <a:xfrm>
            <a:off x="4846500" y="3126425"/>
            <a:ext cx="28044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accent5"/>
                </a:solidFill>
              </a:rPr>
              <a:t>AUC-ROC</a:t>
            </a:r>
            <a:endParaRPr b="1" sz="1800">
              <a:solidFill>
                <a:schemeClr val="accent5"/>
              </a:solidFill>
            </a:endParaRPr>
          </a:p>
          <a:p>
            <a:pPr indent="0" lvl="0" marL="0" rtl="0" algn="ctr">
              <a:spcBef>
                <a:spcPts val="0"/>
              </a:spcBef>
              <a:spcAft>
                <a:spcPts val="0"/>
              </a:spcAft>
              <a:buNone/>
            </a:pPr>
            <a:r>
              <a:rPr lang="it" sz="1800">
                <a:solidFill>
                  <a:schemeClr val="dk2"/>
                </a:solidFill>
              </a:rPr>
              <a:t>0.93 - 0.97</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How Do We choose the threshold?</a:t>
            </a:r>
            <a:endParaRPr/>
          </a:p>
        </p:txBody>
      </p:sp>
      <p:sp>
        <p:nvSpPr>
          <p:cNvPr id="175" name="Google Shape;175;p26"/>
          <p:cNvSpPr txBox="1"/>
          <p:nvPr>
            <p:ph idx="1" type="body"/>
          </p:nvPr>
        </p:nvSpPr>
        <p:spPr>
          <a:xfrm>
            <a:off x="311700" y="1131375"/>
            <a:ext cx="5359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it"/>
              <a:t>Two Competing Objectives in Conflict:</a:t>
            </a:r>
            <a:endParaRPr/>
          </a:p>
          <a:p>
            <a:pPr indent="457200" lvl="0" marL="457200" rtl="0" algn="l">
              <a:spcBef>
                <a:spcPts val="1200"/>
              </a:spcBef>
              <a:spcAft>
                <a:spcPts val="0"/>
              </a:spcAft>
              <a:buNone/>
            </a:pPr>
            <a:r>
              <a:rPr lang="it"/>
              <a:t>Maximize Accuracy on Easy Queries</a:t>
            </a:r>
            <a:endParaRPr/>
          </a:p>
          <a:p>
            <a:pPr indent="457200" lvl="0" marL="457200" rtl="0" algn="l">
              <a:spcBef>
                <a:spcPts val="1200"/>
              </a:spcBef>
              <a:spcAft>
                <a:spcPts val="0"/>
              </a:spcAft>
              <a:buNone/>
            </a:pPr>
            <a:r>
              <a:rPr lang="it"/>
              <a:t>Maximize Computational Time Saved</a:t>
            </a:r>
            <a:endParaRPr/>
          </a:p>
          <a:p>
            <a:pPr indent="0" lvl="0" marL="0" rtl="0" algn="l">
              <a:spcBef>
                <a:spcPts val="1200"/>
              </a:spcBef>
              <a:spcAft>
                <a:spcPts val="1200"/>
              </a:spcAft>
              <a:buNone/>
            </a:pPr>
            <a:r>
              <a:rPr lang="it"/>
              <a:t>These objectives are not aligned.</a:t>
            </a:r>
            <a:endParaRPr/>
          </a:p>
        </p:txBody>
      </p:sp>
      <p:sp>
        <p:nvSpPr>
          <p:cNvPr id="176" name="Google Shape;1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77" name="Google Shape;177;p26"/>
          <p:cNvSpPr txBox="1"/>
          <p:nvPr>
            <p:ph idx="1" type="body"/>
          </p:nvPr>
        </p:nvSpPr>
        <p:spPr>
          <a:xfrm>
            <a:off x="5745600" y="1132275"/>
            <a:ext cx="3398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3150">
              <a:solidFill>
                <a:schemeClr val="dk1"/>
              </a:solidFill>
            </a:endParaRPr>
          </a:p>
          <a:p>
            <a:pPr indent="0" lvl="0" marL="0" rtl="0" algn="l">
              <a:spcBef>
                <a:spcPts val="1200"/>
              </a:spcBef>
              <a:spcAft>
                <a:spcPts val="1200"/>
              </a:spcAft>
              <a:buNone/>
            </a:pPr>
            <a:r>
              <a:rPr lang="it" sz="4800"/>
              <a:t>𝝉 = ?*</a:t>
            </a:r>
            <a:endParaRPr sz="4800"/>
          </a:p>
        </p:txBody>
      </p:sp>
      <p:pic>
        <p:nvPicPr>
          <p:cNvPr id="178" name="Google Shape;178;p26" title="644a3175522559.5c4f4d8d15380.gif"/>
          <p:cNvPicPr preferRelativeResize="0"/>
          <p:nvPr/>
        </p:nvPicPr>
        <p:blipFill rotWithShape="1">
          <a:blip r:embed="rId3">
            <a:alphaModFix/>
          </a:blip>
          <a:srcRect b="24291" l="36893" r="36689" t="23481"/>
          <a:stretch/>
        </p:blipFill>
        <p:spPr>
          <a:xfrm>
            <a:off x="440596" y="1657029"/>
            <a:ext cx="790200" cy="878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27"/>
          <p:cNvSpPr txBox="1"/>
          <p:nvPr>
            <p:ph type="title"/>
          </p:nvPr>
        </p:nvSpPr>
        <p:spPr>
          <a:xfrm>
            <a:off x="311700" y="445025"/>
            <a:ext cx="8520600" cy="572700"/>
          </a:xfrm>
          <a:prstGeom prst="rect">
            <a:avLst/>
          </a:prstGeom>
          <a:solidFill>
            <a:srgbClr val="000000">
              <a:alpha val="0"/>
            </a:srgbClr>
          </a:solid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0" lang="it" sz="2380">
                <a:solidFill>
                  <a:srgbClr val="0097A7"/>
                </a:solidFill>
                <a:latin typeface="Arial"/>
                <a:ea typeface="Arial"/>
                <a:cs typeface="Arial"/>
                <a:sym typeface="Arial"/>
              </a:rPr>
              <a:t>Automated Scoring Function</a:t>
            </a:r>
            <a:endParaRPr b="0" sz="2380">
              <a:solidFill>
                <a:srgbClr val="0097A7"/>
              </a:solidFill>
              <a:latin typeface="Arial"/>
              <a:ea typeface="Arial"/>
              <a:cs typeface="Arial"/>
              <a:sym typeface="Arial"/>
            </a:endParaRPr>
          </a:p>
        </p:txBody>
      </p:sp>
      <p:sp>
        <p:nvSpPr>
          <p:cNvPr id="184" name="Google Shape;18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85" name="Google Shape;185;p27"/>
          <p:cNvSpPr txBox="1"/>
          <p:nvPr/>
        </p:nvSpPr>
        <p:spPr>
          <a:xfrm>
            <a:off x="403098" y="1047750"/>
            <a:ext cx="83379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it" sz="1400">
                <a:solidFill>
                  <a:srgbClr val="595959"/>
                </a:solidFill>
                <a:latin typeface="Arial"/>
                <a:ea typeface="Arial"/>
                <a:cs typeface="Arial"/>
                <a:sym typeface="Arial"/>
              </a:rPr>
              <a:t>Our scoring function is designed to balance accuracy and efficiency:</a:t>
            </a:r>
            <a:endParaRPr b="0" sz="1400">
              <a:solidFill>
                <a:srgbClr val="595959"/>
              </a:solidFill>
              <a:latin typeface="Arial"/>
              <a:ea typeface="Arial"/>
              <a:cs typeface="Arial"/>
              <a:sym typeface="Arial"/>
            </a:endParaRPr>
          </a:p>
        </p:txBody>
      </p:sp>
      <p:grpSp>
        <p:nvGrpSpPr>
          <p:cNvPr id="186" name="Google Shape;186;p27"/>
          <p:cNvGrpSpPr/>
          <p:nvPr/>
        </p:nvGrpSpPr>
        <p:grpSpPr>
          <a:xfrm>
            <a:off x="403098" y="1428750"/>
            <a:ext cx="8337900" cy="762000"/>
            <a:chOff x="403098" y="1428750"/>
            <a:chExt cx="8337900" cy="762000"/>
          </a:xfrm>
        </p:grpSpPr>
        <p:sp>
          <p:nvSpPr>
            <p:cNvPr id="187" name="Google Shape;187;p27"/>
            <p:cNvSpPr/>
            <p:nvPr/>
          </p:nvSpPr>
          <p:spPr>
            <a:xfrm>
              <a:off x="403098" y="1428750"/>
              <a:ext cx="8337900" cy="762000"/>
            </a:xfrm>
            <a:prstGeom prst="roundRect">
              <a:avLst>
                <a:gd fmla="val 12500"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8" name="Google Shape;188;p27"/>
            <p:cNvPicPr preferRelativeResize="0"/>
            <p:nvPr/>
          </p:nvPicPr>
          <p:blipFill rotWithShape="1">
            <a:blip r:embed="rId4">
              <a:alphaModFix/>
            </a:blip>
            <a:srcRect b="0" l="0" r="0" t="0"/>
            <a:stretch/>
          </p:blipFill>
          <p:spPr>
            <a:xfrm>
              <a:off x="973265" y="1612964"/>
              <a:ext cx="7197300" cy="393600"/>
            </a:xfrm>
            <a:prstGeom prst="rect">
              <a:avLst/>
            </a:prstGeom>
            <a:noFill/>
            <a:ln>
              <a:noFill/>
            </a:ln>
          </p:spPr>
        </p:pic>
      </p:grpSp>
      <p:grpSp>
        <p:nvGrpSpPr>
          <p:cNvPr id="189" name="Google Shape;189;p27"/>
          <p:cNvGrpSpPr/>
          <p:nvPr/>
        </p:nvGrpSpPr>
        <p:grpSpPr>
          <a:xfrm>
            <a:off x="403098" y="2333625"/>
            <a:ext cx="8337804" cy="1714500"/>
            <a:chOff x="403098" y="2333625"/>
            <a:chExt cx="8337804" cy="1714500"/>
          </a:xfrm>
        </p:grpSpPr>
        <p:sp>
          <p:nvSpPr>
            <p:cNvPr id="190" name="Google Shape;190;p27"/>
            <p:cNvSpPr/>
            <p:nvPr/>
          </p:nvSpPr>
          <p:spPr>
            <a:xfrm>
              <a:off x="403098" y="2333625"/>
              <a:ext cx="2667000" cy="1714500"/>
            </a:xfrm>
            <a:prstGeom prst="roundRect">
              <a:avLst>
                <a:gd fmla="val 4444"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27"/>
            <p:cNvSpPr txBox="1"/>
            <p:nvPr/>
          </p:nvSpPr>
          <p:spPr>
            <a:xfrm>
              <a:off x="545973" y="2476500"/>
              <a:ext cx="2381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200">
                  <a:solidFill>
                    <a:srgbClr val="00796B"/>
                  </a:solidFill>
                  <a:latin typeface="Arial"/>
                  <a:ea typeface="Arial"/>
                  <a:cs typeface="Arial"/>
                  <a:sym typeface="Arial"/>
                </a:rPr>
                <a:t>AccuracyOnEasy</a:t>
              </a:r>
              <a:endParaRPr b="1" sz="1200">
                <a:solidFill>
                  <a:srgbClr val="00796B"/>
                </a:solidFill>
                <a:latin typeface="Arial"/>
                <a:ea typeface="Arial"/>
                <a:cs typeface="Arial"/>
                <a:sym typeface="Arial"/>
              </a:endParaRPr>
            </a:p>
            <a:p>
              <a:pPr indent="0" lvl="0" marL="0" rtl="0" algn="l">
                <a:spcBef>
                  <a:spcPts val="600"/>
                </a:spcBef>
                <a:spcAft>
                  <a:spcPts val="0"/>
                </a:spcAft>
                <a:buNone/>
              </a:pPr>
              <a:r>
                <a:rPr lang="it" sz="1100">
                  <a:solidFill>
                    <a:srgbClr val="595959"/>
                  </a:solidFill>
                  <a:latin typeface="Arial"/>
                  <a:ea typeface="Arial"/>
                  <a:cs typeface="Arial"/>
                  <a:sym typeface="Arial"/>
                </a:rPr>
                <a:t>Percentage of easy queries that are correctly predicted by the model.</a:t>
              </a:r>
              <a:endParaRPr sz="1100">
                <a:solidFill>
                  <a:srgbClr val="595959"/>
                </a:solidFill>
                <a:latin typeface="Arial"/>
                <a:ea typeface="Arial"/>
                <a:cs typeface="Arial"/>
                <a:sym typeface="Arial"/>
              </a:endParaRPr>
            </a:p>
          </p:txBody>
        </p:sp>
        <p:sp>
          <p:nvSpPr>
            <p:cNvPr id="192" name="Google Shape;192;p27"/>
            <p:cNvSpPr/>
            <p:nvPr/>
          </p:nvSpPr>
          <p:spPr>
            <a:xfrm>
              <a:off x="3240215" y="2333625"/>
              <a:ext cx="2667000" cy="1714500"/>
            </a:xfrm>
            <a:prstGeom prst="roundRect">
              <a:avLst>
                <a:gd fmla="val 4444"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7"/>
            <p:cNvSpPr txBox="1"/>
            <p:nvPr/>
          </p:nvSpPr>
          <p:spPr>
            <a:xfrm>
              <a:off x="3383089" y="2476500"/>
              <a:ext cx="2381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200">
                  <a:solidFill>
                    <a:srgbClr val="00796B"/>
                  </a:solidFill>
                  <a:latin typeface="Arial"/>
                  <a:ea typeface="Arial"/>
                  <a:cs typeface="Arial"/>
                  <a:sym typeface="Arial"/>
                </a:rPr>
                <a:t>TimeSaved</a:t>
              </a:r>
              <a:endParaRPr b="1" sz="1200">
                <a:solidFill>
                  <a:srgbClr val="00796B"/>
                </a:solidFill>
                <a:latin typeface="Arial"/>
                <a:ea typeface="Arial"/>
                <a:cs typeface="Arial"/>
                <a:sym typeface="Arial"/>
              </a:endParaRPr>
            </a:p>
            <a:p>
              <a:pPr indent="0" lvl="0" marL="0" rtl="0" algn="l">
                <a:spcBef>
                  <a:spcPts val="600"/>
                </a:spcBef>
                <a:spcAft>
                  <a:spcPts val="0"/>
                </a:spcAft>
                <a:buNone/>
              </a:pPr>
              <a:r>
                <a:rPr lang="it" sz="1100">
                  <a:solidFill>
                    <a:srgbClr val="595959"/>
                  </a:solidFill>
                  <a:latin typeface="Arial"/>
                  <a:ea typeface="Arial"/>
                  <a:cs typeface="Arial"/>
                  <a:sym typeface="Arial"/>
                </a:rPr>
                <a:t>Total computational time saved relative to the baseline process.</a:t>
              </a:r>
              <a:endParaRPr sz="1100">
                <a:solidFill>
                  <a:srgbClr val="595959"/>
                </a:solidFill>
                <a:latin typeface="Arial"/>
                <a:ea typeface="Arial"/>
                <a:cs typeface="Arial"/>
                <a:sym typeface="Arial"/>
              </a:endParaRPr>
            </a:p>
            <a:p>
              <a:pPr indent="0" lvl="0" marL="0" rtl="0" algn="l">
                <a:spcBef>
                  <a:spcPts val="1125"/>
                </a:spcBef>
                <a:spcAft>
                  <a:spcPts val="1125"/>
                </a:spcAft>
                <a:buNone/>
              </a:pPr>
              <a:r>
                <a:t/>
              </a:r>
              <a:endParaRPr sz="1100">
                <a:solidFill>
                  <a:srgbClr val="595959"/>
                </a:solidFill>
              </a:endParaRPr>
            </a:p>
          </p:txBody>
        </p:sp>
        <p:sp>
          <p:nvSpPr>
            <p:cNvPr id="194" name="Google Shape;194;p27"/>
            <p:cNvSpPr/>
            <p:nvPr/>
          </p:nvSpPr>
          <p:spPr>
            <a:xfrm>
              <a:off x="6073902" y="2333625"/>
              <a:ext cx="2667000" cy="1714500"/>
            </a:xfrm>
            <a:prstGeom prst="roundRect">
              <a:avLst>
                <a:gd fmla="val 4444" name="adj"/>
              </a:avLst>
            </a:prstGeom>
            <a:solidFill>
              <a:srgbClr val="E0F2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27"/>
            <p:cNvSpPr txBox="1"/>
            <p:nvPr/>
          </p:nvSpPr>
          <p:spPr>
            <a:xfrm>
              <a:off x="6216777" y="2476500"/>
              <a:ext cx="2381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200">
                  <a:solidFill>
                    <a:srgbClr val="00796B"/>
                  </a:solidFill>
                  <a:latin typeface="Arial"/>
                  <a:ea typeface="Arial"/>
                  <a:cs typeface="Arial"/>
                  <a:sym typeface="Arial"/>
                </a:rPr>
                <a:t>⍺ Tuning Coefficient</a:t>
              </a:r>
              <a:endParaRPr b="1" sz="1200">
                <a:solidFill>
                  <a:srgbClr val="00796B"/>
                </a:solidFill>
                <a:latin typeface="Arial"/>
                <a:ea typeface="Arial"/>
                <a:cs typeface="Arial"/>
                <a:sym typeface="Arial"/>
              </a:endParaRPr>
            </a:p>
            <a:p>
              <a:pPr indent="0" lvl="0" marL="0" rtl="0" algn="l">
                <a:spcBef>
                  <a:spcPts val="600"/>
                </a:spcBef>
                <a:spcAft>
                  <a:spcPts val="0"/>
                </a:spcAft>
                <a:buNone/>
              </a:pPr>
              <a:r>
                <a:rPr lang="it" sz="1100">
                  <a:solidFill>
                    <a:srgbClr val="595959"/>
                  </a:solidFill>
                  <a:latin typeface="Arial"/>
                  <a:ea typeface="Arial"/>
                  <a:cs typeface="Arial"/>
                  <a:sym typeface="Arial"/>
                </a:rPr>
                <a:t>Weight factor used to tune the balance between accuracy and time.</a:t>
              </a:r>
              <a:endParaRPr sz="1100">
                <a:solidFill>
                  <a:srgbClr val="595959"/>
                </a:solidFill>
                <a:latin typeface="Arial"/>
                <a:ea typeface="Arial"/>
                <a:cs typeface="Arial"/>
                <a:sym typeface="Arial"/>
              </a:endParaRPr>
            </a:p>
            <a:p>
              <a:pPr indent="0" lvl="0" marL="0" rtl="0" algn="l">
                <a:spcBef>
                  <a:spcPts val="750"/>
                </a:spcBef>
                <a:spcAft>
                  <a:spcPts val="0"/>
                </a:spcAft>
                <a:buNone/>
              </a:pPr>
              <a:r>
                <a:rPr b="1" lang="it" sz="1400">
                  <a:solidFill>
                    <a:srgbClr val="0097A7"/>
                  </a:solidFill>
                  <a:latin typeface="Arial"/>
                  <a:ea typeface="Arial"/>
                  <a:cs typeface="Arial"/>
                  <a:sym typeface="Arial"/>
                </a:rPr>
                <a:t>⍺ = 0.9</a:t>
              </a:r>
              <a:endParaRPr b="1" sz="1400">
                <a:solidFill>
                  <a:srgbClr val="0097A7"/>
                </a:solidFill>
                <a:latin typeface="Arial"/>
                <a:ea typeface="Arial"/>
                <a:cs typeface="Arial"/>
                <a:sym typeface="Arial"/>
              </a:endParaRPr>
            </a:p>
          </p:txBody>
        </p:sp>
      </p:grpSp>
      <p:grpSp>
        <p:nvGrpSpPr>
          <p:cNvPr id="196" name="Google Shape;196;p27"/>
          <p:cNvGrpSpPr/>
          <p:nvPr/>
        </p:nvGrpSpPr>
        <p:grpSpPr>
          <a:xfrm>
            <a:off x="1014500" y="4145325"/>
            <a:ext cx="6908700" cy="381000"/>
            <a:chOff x="1014500" y="4191000"/>
            <a:chExt cx="6908700" cy="381000"/>
          </a:xfrm>
        </p:grpSpPr>
        <p:sp>
          <p:nvSpPr>
            <p:cNvPr id="197" name="Google Shape;197;p27"/>
            <p:cNvSpPr/>
            <p:nvPr/>
          </p:nvSpPr>
          <p:spPr>
            <a:xfrm>
              <a:off x="1014500" y="4191000"/>
              <a:ext cx="6908700" cy="381000"/>
            </a:xfrm>
            <a:prstGeom prst="roundRect">
              <a:avLst>
                <a:gd fmla="val 50000" name="adj"/>
              </a:avLst>
            </a:prstGeom>
            <a:solidFill>
              <a:srgbClr val="0097A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7"/>
            <p:cNvSpPr txBox="1"/>
            <p:nvPr/>
          </p:nvSpPr>
          <p:spPr>
            <a:xfrm>
              <a:off x="1465950" y="4191000"/>
              <a:ext cx="59703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1200">
                  <a:solidFill>
                    <a:srgbClr val="FFFFFF"/>
                  </a:solidFill>
                  <a:latin typeface="Arial"/>
                  <a:ea typeface="Arial"/>
                  <a:cs typeface="Arial"/>
                  <a:sym typeface="Arial"/>
                </a:rPr>
                <a:t>Optimization Goal: Select the threshold that maximizes this global score.</a:t>
              </a:r>
              <a:endParaRPr b="1" sz="1200">
                <a:solidFill>
                  <a:srgbClr val="FFFFFF"/>
                </a:solidFill>
                <a:latin typeface="Arial"/>
                <a:ea typeface="Arial"/>
                <a:cs typeface="Arial"/>
                <a:sym typeface="Arial"/>
              </a:endParaRPr>
            </a:p>
          </p:txBody>
        </p:sp>
      </p:grpSp>
      <p:pic>
        <p:nvPicPr>
          <p:cNvPr id="199" name="Google Shape;199;p27"/>
          <p:cNvPicPr preferRelativeResize="0"/>
          <p:nvPr/>
        </p:nvPicPr>
        <p:blipFill>
          <a:blip r:embed="rId5">
            <a:alphaModFix/>
          </a:blip>
          <a:stretch>
            <a:fillRect/>
          </a:stretch>
        </p:blipFill>
        <p:spPr>
          <a:xfrm>
            <a:off x="3348400" y="3139949"/>
            <a:ext cx="2423619" cy="393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Threshold Sweep</a:t>
            </a:r>
            <a:endParaRPr/>
          </a:p>
        </p:txBody>
      </p:sp>
      <p:sp>
        <p:nvSpPr>
          <p:cNvPr id="205" name="Google Shape;205;p28"/>
          <p:cNvSpPr txBox="1"/>
          <p:nvPr>
            <p:ph idx="1" type="body"/>
          </p:nvPr>
        </p:nvSpPr>
        <p:spPr>
          <a:xfrm>
            <a:off x="311700" y="1146663"/>
            <a:ext cx="8520600" cy="342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206" name="Google Shape;20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07" name="Google Shape;207;p28"/>
          <p:cNvPicPr preferRelativeResize="0"/>
          <p:nvPr/>
        </p:nvPicPr>
        <p:blipFill rotWithShape="1">
          <a:blip r:embed="rId3">
            <a:alphaModFix/>
          </a:blip>
          <a:srcRect b="0" l="0" r="2913" t="5258"/>
          <a:stretch/>
        </p:blipFill>
        <p:spPr>
          <a:xfrm>
            <a:off x="1640163" y="1017725"/>
            <a:ext cx="5863675" cy="3553825"/>
          </a:xfrm>
          <a:prstGeom prst="rect">
            <a:avLst/>
          </a:prstGeom>
          <a:noFill/>
          <a:ln>
            <a:noFill/>
          </a:ln>
        </p:spPr>
      </p:pic>
      <p:sp>
        <p:nvSpPr>
          <p:cNvPr id="208" name="Google Shape;208;p28"/>
          <p:cNvSpPr/>
          <p:nvPr/>
        </p:nvSpPr>
        <p:spPr>
          <a:xfrm>
            <a:off x="1540475" y="881500"/>
            <a:ext cx="6127800" cy="1690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8"/>
          <p:cNvPicPr preferRelativeResize="0"/>
          <p:nvPr/>
        </p:nvPicPr>
        <p:blipFill rotWithShape="1">
          <a:blip r:embed="rId3">
            <a:alphaModFix/>
          </a:blip>
          <a:srcRect b="59121" l="0" r="2913" t="5258"/>
          <a:stretch/>
        </p:blipFill>
        <p:spPr>
          <a:xfrm>
            <a:off x="84063" y="1319500"/>
            <a:ext cx="8975877" cy="20453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1000"/>
                                        <p:tgtEl>
                                          <p:spTgt spid="20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9"/>
                                        </p:tgtEl>
                                        <p:attrNameLst>
                                          <p:attrName>style.visibility</p:attrName>
                                        </p:attrNameLst>
                                      </p:cBhvr>
                                      <p:to>
                                        <p:strVal val="visible"/>
                                      </p:to>
                                    </p:set>
                                    <p:anim calcmode="lin" valueType="num">
                                      <p:cBhvr additive="base">
                                        <p:cTn dur="1000"/>
                                        <p:tgtEl>
                                          <p:spTgt spid="209"/>
                                        </p:tgtEl>
                                        <p:attrNameLst>
                                          <p:attrName>ppt_y</p:attrName>
                                        </p:attrNameLst>
                                      </p:cBhvr>
                                      <p:tavLst>
                                        <p:tav fmla="" tm="0">
                                          <p:val>
                                            <p:strVal val="#ppt_y-1"/>
                                          </p:val>
                                        </p:tav>
                                        <p:tav fmla="" tm="100000">
                                          <p:val>
                                            <p:strVal val="#ppt_y"/>
                                          </p:val>
                                        </p:tav>
                                      </p:tavLst>
                                    </p:anim>
                                  </p:childTnLst>
                                </p:cTn>
                              </p:par>
                              <p:par>
                                <p:cTn fill="hold" nodeType="withEffect" presetClass="exit" presetID="2" presetSubtype="4">
                                  <p:stCondLst>
                                    <p:cond delay="0"/>
                                  </p:stCondLst>
                                  <p:childTnLst>
                                    <p:anim calcmode="lin" valueType="num">
                                      <p:cBhvr additive="base">
                                        <p:cTn dur="1000"/>
                                        <p:tgtEl>
                                          <p:spTgt spid="207"/>
                                        </p:tgtEl>
                                        <p:attrNameLst>
                                          <p:attrName>ppt_y</p:attrName>
                                        </p:attrNameLst>
                                      </p:cBhvr>
                                      <p:tavLst>
                                        <p:tav fmla="" tm="0">
                                          <p:val>
                                            <p:strVal val="#ppt_y"/>
                                          </p:val>
                                        </p:tav>
                                        <p:tav fmla="" tm="100000">
                                          <p:val>
                                            <p:strVal val="#ppt_y+1"/>
                                          </p:val>
                                        </p:tav>
                                      </p:tavLst>
                                    </p:anim>
                                    <p:set>
                                      <p:cBhvr>
                                        <p:cTn dur="1" fill="hold">
                                          <p:stCondLst>
                                            <p:cond delay="1000"/>
                                          </p:stCondLst>
                                        </p:cTn>
                                        <p:tgtEl>
                                          <p:spTgt spid="207"/>
                                        </p:tgtEl>
                                        <p:attrNameLst>
                                          <p:attrName>style.visibility</p:attrName>
                                        </p:attrNameLst>
                                      </p:cBhvr>
                                      <p:to>
                                        <p:strVal val="hidden"/>
                                      </p:to>
                                    </p:set>
                                  </p:childTnLst>
                                </p:cTn>
                              </p:par>
                              <p:par>
                                <p:cTn fill="hold" nodeType="withEffect" presetClass="exit" presetID="2" presetSubtype="4">
                                  <p:stCondLst>
                                    <p:cond delay="0"/>
                                  </p:stCondLst>
                                  <p:childTnLst>
                                    <p:anim calcmode="lin" valueType="num">
                                      <p:cBhvr additive="base">
                                        <p:cTn dur="1000"/>
                                        <p:tgtEl>
                                          <p:spTgt spid="208"/>
                                        </p:tgtEl>
                                        <p:attrNameLst>
                                          <p:attrName>ppt_y</p:attrName>
                                        </p:attrNameLst>
                                      </p:cBhvr>
                                      <p:tavLst>
                                        <p:tav fmla="" tm="0">
                                          <p:val>
                                            <p:strVal val="#ppt_y"/>
                                          </p:val>
                                        </p:tav>
                                        <p:tav fmla="" tm="100000">
                                          <p:val>
                                            <p:strVal val="#ppt_y+1"/>
                                          </p:val>
                                        </p:tav>
                                      </p:tavLst>
                                    </p:anim>
                                    <p:set>
                                      <p:cBhvr>
                                        <p:cTn dur="1" fill="hold">
                                          <p:stCondLst>
                                            <p:cond delay="1000"/>
                                          </p:stCondLst>
                                        </p:cTn>
                                        <p:tgtEl>
                                          <p:spTgt spid="20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migliroa questa slide con lo stile piomeno dellle altre" id="214" name="Google Shape;214;p2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30"/>
          <p:cNvSpPr txBox="1"/>
          <p:nvPr>
            <p:ph type="title"/>
          </p:nvPr>
        </p:nvSpPr>
        <p:spPr>
          <a:xfrm>
            <a:off x="311700" y="238125"/>
            <a:ext cx="8520600" cy="572700"/>
          </a:xfrm>
          <a:prstGeom prst="rect">
            <a:avLst/>
          </a:prstGeom>
          <a:solidFill>
            <a:srgbClr val="000000">
              <a:alpha val="0"/>
            </a:srgbClr>
          </a:solidFill>
          <a:ln>
            <a:noFill/>
          </a:ln>
        </p:spPr>
        <p:txBody>
          <a:bodyPr anchorCtr="0" anchor="ctr" bIns="91400" lIns="91400" spcFirstLastPara="1" rIns="91400" wrap="square" tIns="91400">
            <a:normAutofit/>
          </a:bodyPr>
          <a:lstStyle/>
          <a:p>
            <a:pPr indent="0" lvl="0" marL="0" rtl="0" algn="l">
              <a:spcBef>
                <a:spcPts val="0"/>
              </a:spcBef>
              <a:spcAft>
                <a:spcPts val="0"/>
              </a:spcAft>
              <a:buNone/>
            </a:pPr>
            <a:r>
              <a:rPr b="0" i="0" lang="it" sz="2380">
                <a:solidFill>
                  <a:srgbClr val="0097A7"/>
                </a:solidFill>
                <a:latin typeface="Arial"/>
                <a:ea typeface="Arial"/>
                <a:cs typeface="Arial"/>
                <a:sym typeface="Arial"/>
              </a:rPr>
              <a:t>Experimental Results &amp; Transfer</a:t>
            </a:r>
            <a:endParaRPr b="0" i="0" sz="2380">
              <a:solidFill>
                <a:srgbClr val="0097A7"/>
              </a:solidFill>
              <a:latin typeface="Arial"/>
              <a:ea typeface="Arial"/>
              <a:cs typeface="Arial"/>
              <a:sym typeface="Arial"/>
            </a:endParaRPr>
          </a:p>
        </p:txBody>
      </p:sp>
      <p:sp>
        <p:nvSpPr>
          <p:cNvPr id="220" name="Google Shape;220;p30"/>
          <p:cNvSpPr txBox="1"/>
          <p:nvPr/>
        </p:nvSpPr>
        <p:spPr>
          <a:xfrm>
            <a:off x="403098" y="952500"/>
            <a:ext cx="8337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1480">
                <a:solidFill>
                  <a:srgbClr val="595959"/>
                </a:solidFill>
                <a:latin typeface="Arial"/>
                <a:ea typeface="Arial"/>
                <a:cs typeface="Arial"/>
                <a:sym typeface="Arial"/>
              </a:rPr>
              <a:t>Performance evaluation across diverse datasets using </a:t>
            </a:r>
            <a:r>
              <a:rPr b="1" lang="it" sz="1480">
                <a:solidFill>
                  <a:srgbClr val="595959"/>
                </a:solidFill>
                <a:latin typeface="Arial"/>
                <a:ea typeface="Arial"/>
                <a:cs typeface="Arial"/>
                <a:sym typeface="Arial"/>
              </a:rPr>
              <a:t>Easy %</a:t>
            </a:r>
            <a:r>
              <a:rPr lang="it" sz="1480">
                <a:solidFill>
                  <a:srgbClr val="595959"/>
                </a:solidFill>
                <a:latin typeface="Arial"/>
                <a:ea typeface="Arial"/>
                <a:cs typeface="Arial"/>
                <a:sym typeface="Arial"/>
              </a:rPr>
              <a:t> and </a:t>
            </a:r>
            <a:r>
              <a:rPr b="1" lang="it" sz="1480">
                <a:solidFill>
                  <a:srgbClr val="595959"/>
                </a:solidFill>
                <a:latin typeface="Arial"/>
                <a:ea typeface="Arial"/>
                <a:cs typeface="Arial"/>
                <a:sym typeface="Arial"/>
              </a:rPr>
              <a:t>Recall metrics (@1, @5, @10)</a:t>
            </a:r>
            <a:r>
              <a:rPr lang="it" sz="1480">
                <a:solidFill>
                  <a:srgbClr val="595959"/>
                </a:solidFill>
                <a:latin typeface="Arial"/>
                <a:ea typeface="Arial"/>
                <a:cs typeface="Arial"/>
                <a:sym typeface="Arial"/>
              </a:rPr>
              <a:t>.</a:t>
            </a:r>
            <a:endParaRPr sz="1480">
              <a:solidFill>
                <a:srgbClr val="595959"/>
              </a:solidFill>
              <a:latin typeface="Arial"/>
              <a:ea typeface="Arial"/>
              <a:cs typeface="Arial"/>
              <a:sym typeface="Arial"/>
            </a:endParaRPr>
          </a:p>
        </p:txBody>
      </p:sp>
      <p:sp>
        <p:nvSpPr>
          <p:cNvPr id="221" name="Google Shape;22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222" name="Google Shape;222;p30"/>
          <p:cNvGrpSpPr/>
          <p:nvPr/>
        </p:nvGrpSpPr>
        <p:grpSpPr>
          <a:xfrm>
            <a:off x="403098" y="1524000"/>
            <a:ext cx="4048200" cy="1905000"/>
            <a:chOff x="403098" y="1524000"/>
            <a:chExt cx="4048200" cy="1905000"/>
          </a:xfrm>
        </p:grpSpPr>
        <p:sp>
          <p:nvSpPr>
            <p:cNvPr id="223" name="Google Shape;223;p30"/>
            <p:cNvSpPr/>
            <p:nvPr/>
          </p:nvSpPr>
          <p:spPr>
            <a:xfrm>
              <a:off x="403098" y="1524000"/>
              <a:ext cx="4048200" cy="1905000"/>
            </a:xfrm>
            <a:prstGeom prst="roundRect">
              <a:avLst>
                <a:gd fmla="val 5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30"/>
            <p:cNvSpPr txBox="1"/>
            <p:nvPr/>
          </p:nvSpPr>
          <p:spPr>
            <a:xfrm>
              <a:off x="498348" y="1619250"/>
              <a:ext cx="3857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1400">
                  <a:solidFill>
                    <a:srgbClr val="0097A7"/>
                  </a:solidFill>
                  <a:latin typeface="Arial"/>
                  <a:ea typeface="Arial"/>
                  <a:cs typeface="Arial"/>
                  <a:sym typeface="Arial"/>
                </a:rPr>
                <a:t>LoFTR Performance (Trained: SVOX Sun)</a:t>
              </a:r>
              <a:endParaRPr b="1" sz="1400">
                <a:solidFill>
                  <a:srgbClr val="0097A7"/>
                </a:solidFill>
                <a:latin typeface="Arial"/>
                <a:ea typeface="Arial"/>
                <a:cs typeface="Arial"/>
                <a:sym typeface="Arial"/>
              </a:endParaRPr>
            </a:p>
          </p:txBody>
        </p:sp>
      </p:grpSp>
      <p:pic>
        <p:nvPicPr>
          <p:cNvPr id="225" name="Google Shape;225;p30"/>
          <p:cNvPicPr preferRelativeResize="0"/>
          <p:nvPr/>
        </p:nvPicPr>
        <p:blipFill rotWithShape="1">
          <a:blip r:embed="rId4">
            <a:alphaModFix/>
          </a:blip>
          <a:srcRect b="0" l="0" r="0" t="0"/>
          <a:stretch/>
        </p:blipFill>
        <p:spPr>
          <a:xfrm>
            <a:off x="869823" y="2047875"/>
            <a:ext cx="3114600" cy="781200"/>
          </a:xfrm>
          <a:prstGeom prst="rect">
            <a:avLst/>
          </a:prstGeom>
          <a:noFill/>
          <a:ln cap="flat" cmpd="sng" w="9525">
            <a:solidFill>
              <a:srgbClr val="CBD5E1"/>
            </a:solidFill>
            <a:prstDash val="solid"/>
            <a:round/>
            <a:headEnd len="sm" w="sm" type="none"/>
            <a:tailEnd len="sm" w="sm" type="none"/>
          </a:ln>
        </p:spPr>
      </p:pic>
      <p:grpSp>
        <p:nvGrpSpPr>
          <p:cNvPr id="226" name="Google Shape;226;p30"/>
          <p:cNvGrpSpPr/>
          <p:nvPr/>
        </p:nvGrpSpPr>
        <p:grpSpPr>
          <a:xfrm>
            <a:off x="4692777" y="1524000"/>
            <a:ext cx="4048200" cy="1905000"/>
            <a:chOff x="4692777" y="1524000"/>
            <a:chExt cx="4048200" cy="1905000"/>
          </a:xfrm>
        </p:grpSpPr>
        <p:sp>
          <p:nvSpPr>
            <p:cNvPr id="227" name="Google Shape;227;p30"/>
            <p:cNvSpPr/>
            <p:nvPr/>
          </p:nvSpPr>
          <p:spPr>
            <a:xfrm>
              <a:off x="4692777" y="1524000"/>
              <a:ext cx="4048200" cy="1905000"/>
            </a:xfrm>
            <a:prstGeom prst="roundRect">
              <a:avLst>
                <a:gd fmla="val 5000" name="adj"/>
              </a:avLst>
            </a:prstGeom>
            <a:solidFill>
              <a:srgbClr val="F0FDFA"/>
            </a:solidFill>
            <a:ln cap="flat" cmpd="sng" w="9525">
              <a:solidFill>
                <a:srgbClr val="99F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30"/>
            <p:cNvSpPr txBox="1"/>
            <p:nvPr/>
          </p:nvSpPr>
          <p:spPr>
            <a:xfrm>
              <a:off x="4883277" y="1666875"/>
              <a:ext cx="36672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480">
                  <a:solidFill>
                    <a:srgbClr val="0D9488"/>
                  </a:solidFill>
                  <a:latin typeface="Arial"/>
                  <a:ea typeface="Arial"/>
                  <a:cs typeface="Arial"/>
                  <a:sym typeface="Arial"/>
                </a:rPr>
                <a:t>Statistical Confidence Logic</a:t>
              </a:r>
              <a:endParaRPr b="1" sz="1480">
                <a:solidFill>
                  <a:srgbClr val="0D9488"/>
                </a:solidFill>
                <a:latin typeface="Arial"/>
                <a:ea typeface="Arial"/>
                <a:cs typeface="Arial"/>
                <a:sym typeface="Arial"/>
              </a:endParaRPr>
            </a:p>
            <a:p>
              <a:pPr indent="-322580" lvl="0" marL="457200" rtl="0" algn="l">
                <a:spcBef>
                  <a:spcPts val="900"/>
                </a:spcBef>
                <a:spcAft>
                  <a:spcPts val="0"/>
                </a:spcAft>
                <a:buClr>
                  <a:srgbClr val="134E4A"/>
                </a:buClr>
                <a:buSzPts val="1480"/>
                <a:buFont typeface="Arial"/>
                <a:buChar char="●"/>
              </a:pPr>
              <a:r>
                <a:rPr lang="it" sz="1480">
                  <a:solidFill>
                    <a:srgbClr val="134E4A"/>
                  </a:solidFill>
                  <a:latin typeface="Arial"/>
                  <a:ea typeface="Arial"/>
                  <a:cs typeface="Arial"/>
                  <a:sym typeface="Arial"/>
                </a:rPr>
                <a:t>Selectively skips images based on confidence levels.</a:t>
              </a:r>
              <a:endParaRPr sz="1480">
                <a:solidFill>
                  <a:srgbClr val="134E4A"/>
                </a:solidFill>
                <a:latin typeface="Arial"/>
                <a:ea typeface="Arial"/>
                <a:cs typeface="Arial"/>
                <a:sym typeface="Arial"/>
              </a:endParaRPr>
            </a:p>
            <a:p>
              <a:pPr indent="-322580" lvl="0" marL="457200" rtl="0" algn="l">
                <a:spcBef>
                  <a:spcPts val="750"/>
                </a:spcBef>
                <a:spcAft>
                  <a:spcPts val="0"/>
                </a:spcAft>
                <a:buClr>
                  <a:srgbClr val="134E4A"/>
                </a:buClr>
                <a:buSzPts val="1480"/>
                <a:buFont typeface="Arial"/>
                <a:buChar char="●"/>
              </a:pPr>
              <a:r>
                <a:rPr lang="it" sz="1480">
                  <a:solidFill>
                    <a:srgbClr val="134E4A"/>
                  </a:solidFill>
                  <a:latin typeface="Arial"/>
                  <a:ea typeface="Arial"/>
                  <a:cs typeface="Arial"/>
                  <a:sym typeface="Arial"/>
                </a:rPr>
                <a:t>Avoids redundant computational work.</a:t>
              </a:r>
              <a:endParaRPr sz="1480">
                <a:solidFill>
                  <a:srgbClr val="134E4A"/>
                </a:solidFill>
                <a:latin typeface="Arial"/>
                <a:ea typeface="Arial"/>
                <a:cs typeface="Arial"/>
                <a:sym typeface="Arial"/>
              </a:endParaRPr>
            </a:p>
            <a:p>
              <a:pPr indent="-322580" lvl="0" marL="457200" rtl="0" algn="l">
                <a:spcBef>
                  <a:spcPts val="750"/>
                </a:spcBef>
                <a:spcAft>
                  <a:spcPts val="0"/>
                </a:spcAft>
                <a:buClr>
                  <a:srgbClr val="134E4A"/>
                </a:buClr>
                <a:buSzPts val="1480"/>
                <a:buFont typeface="Arial"/>
                <a:buChar char="●"/>
              </a:pPr>
              <a:r>
                <a:rPr lang="it" sz="1480">
                  <a:solidFill>
                    <a:srgbClr val="134E4A"/>
                  </a:solidFill>
                  <a:latin typeface="Arial"/>
                  <a:ea typeface="Arial"/>
                  <a:cs typeface="Arial"/>
                  <a:sym typeface="Arial"/>
                </a:rPr>
                <a:t>Focuses resources on difficult cases.</a:t>
              </a:r>
              <a:endParaRPr sz="1480">
                <a:solidFill>
                  <a:srgbClr val="134E4A"/>
                </a:solidFill>
                <a:latin typeface="Arial"/>
                <a:ea typeface="Arial"/>
                <a:cs typeface="Arial"/>
                <a:sym typeface="Arial"/>
              </a:endParaRPr>
            </a:p>
          </p:txBody>
        </p:sp>
      </p:grpSp>
      <p:grpSp>
        <p:nvGrpSpPr>
          <p:cNvPr id="229" name="Google Shape;229;p30"/>
          <p:cNvGrpSpPr/>
          <p:nvPr/>
        </p:nvGrpSpPr>
        <p:grpSpPr>
          <a:xfrm>
            <a:off x="1210285" y="3714648"/>
            <a:ext cx="6544418" cy="393592"/>
            <a:chOff x="403098" y="3714750"/>
            <a:chExt cx="8337900" cy="571500"/>
          </a:xfrm>
        </p:grpSpPr>
        <p:sp>
          <p:nvSpPr>
            <p:cNvPr id="230" name="Google Shape;230;p30"/>
            <p:cNvSpPr/>
            <p:nvPr/>
          </p:nvSpPr>
          <p:spPr>
            <a:xfrm>
              <a:off x="403098" y="3714750"/>
              <a:ext cx="8337900" cy="571500"/>
            </a:xfrm>
            <a:prstGeom prst="roundRect">
              <a:avLst>
                <a:gd fmla="val 50000" name="adj"/>
              </a:avLst>
            </a:prstGeom>
            <a:solidFill>
              <a:srgbClr val="0097A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30"/>
            <p:cNvSpPr txBox="1"/>
            <p:nvPr/>
          </p:nvSpPr>
          <p:spPr>
            <a:xfrm>
              <a:off x="403098" y="3714750"/>
              <a:ext cx="83379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 sz="2200">
                  <a:solidFill>
                    <a:srgbClr val="FFFFFF"/>
                  </a:solidFill>
                  <a:latin typeface="Arial"/>
                  <a:ea typeface="Arial"/>
                  <a:cs typeface="Arial"/>
                  <a:sym typeface="Arial"/>
                </a:rPr>
                <a:t>ADAPTIVE MEANS SMART</a:t>
              </a:r>
              <a:endParaRPr b="1" sz="2200">
                <a:solidFill>
                  <a:srgbClr val="FFFFFF"/>
                </a:solidFill>
                <a:latin typeface="Arial"/>
                <a:ea typeface="Arial"/>
                <a:cs typeface="Arial"/>
                <a:sym typeface="Arial"/>
              </a:endParaRPr>
            </a:p>
          </p:txBody>
        </p:sp>
      </p:grpSp>
      <p:sp>
        <p:nvSpPr>
          <p:cNvPr id="232" name="Google Shape;232;p30"/>
          <p:cNvSpPr txBox="1"/>
          <p:nvPr/>
        </p:nvSpPr>
        <p:spPr>
          <a:xfrm>
            <a:off x="298721" y="4723450"/>
            <a:ext cx="852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000">
              <a:solidFill>
                <a:srgbClr val="94A3B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sp>
        <p:nvSpPr>
          <p:cNvPr id="237" name="Google Shape;237;p31"/>
          <p:cNvSpPr txBox="1"/>
          <p:nvPr>
            <p:ph type="title"/>
          </p:nvPr>
        </p:nvSpPr>
        <p:spPr>
          <a:xfrm>
            <a:off x="311696" y="95250"/>
            <a:ext cx="8520600" cy="5715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l">
              <a:spcBef>
                <a:spcPts val="0"/>
              </a:spcBef>
              <a:spcAft>
                <a:spcPts val="0"/>
              </a:spcAft>
              <a:buNone/>
            </a:pPr>
            <a:r>
              <a:rPr i="0" lang="it" sz="2580"/>
              <a:t>Main Quantitative Results</a:t>
            </a:r>
            <a:endParaRPr i="0" sz="2580"/>
          </a:p>
        </p:txBody>
      </p:sp>
      <p:sp>
        <p:nvSpPr>
          <p:cNvPr id="238" name="Google Shape;238;p31"/>
          <p:cNvSpPr txBox="1"/>
          <p:nvPr/>
        </p:nvSpPr>
        <p:spPr>
          <a:xfrm>
            <a:off x="205197" y="666750"/>
            <a:ext cx="8733600" cy="246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i="0" lang="it" sz="1600">
                <a:solidFill>
                  <a:schemeClr val="dk2"/>
                </a:solidFill>
              </a:rPr>
              <a:t>LoFTR (Probability Thresholds: 0.75 / 0.90)</a:t>
            </a:r>
            <a:endParaRPr i="0" sz="1600">
              <a:solidFill>
                <a:schemeClr val="dk2"/>
              </a:solidFill>
            </a:endParaRPr>
          </a:p>
        </p:txBody>
      </p:sp>
      <p:pic>
        <p:nvPicPr>
          <p:cNvPr id="239" name="Google Shape;239;p31"/>
          <p:cNvPicPr preferRelativeResize="0"/>
          <p:nvPr/>
        </p:nvPicPr>
        <p:blipFill rotWithShape="1">
          <a:blip r:embed="rId4">
            <a:alphaModFix/>
          </a:blip>
          <a:srcRect b="0" l="0" r="0" t="0"/>
          <a:stretch/>
        </p:blipFill>
        <p:spPr>
          <a:xfrm>
            <a:off x="152400" y="952500"/>
            <a:ext cx="8839200" cy="1981200"/>
          </a:xfrm>
          <a:prstGeom prst="rect">
            <a:avLst/>
          </a:prstGeom>
          <a:noFill/>
          <a:ln>
            <a:noFill/>
          </a:ln>
        </p:spPr>
      </p:pic>
      <p:sp>
        <p:nvSpPr>
          <p:cNvPr id="240" name="Google Shape;240;p31"/>
          <p:cNvSpPr txBox="1"/>
          <p:nvPr/>
        </p:nvSpPr>
        <p:spPr>
          <a:xfrm>
            <a:off x="205197" y="2933700"/>
            <a:ext cx="8733600" cy="246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i="0" lang="it" sz="1600">
                <a:solidFill>
                  <a:schemeClr val="dk2"/>
                </a:solidFill>
              </a:rPr>
              <a:t>SuperGlue (Probability Thresholds: 0.50 / 0.70)</a:t>
            </a:r>
            <a:endParaRPr i="0" sz="1600">
              <a:solidFill>
                <a:schemeClr val="dk2"/>
              </a:solidFill>
            </a:endParaRPr>
          </a:p>
        </p:txBody>
      </p:sp>
      <p:pic>
        <p:nvPicPr>
          <p:cNvPr id="241" name="Google Shape;241;p31"/>
          <p:cNvPicPr preferRelativeResize="0"/>
          <p:nvPr/>
        </p:nvPicPr>
        <p:blipFill rotWithShape="1">
          <a:blip r:embed="rId5">
            <a:alphaModFix/>
          </a:blip>
          <a:srcRect b="0" l="0" r="0" t="0"/>
          <a:stretch/>
        </p:blipFill>
        <p:spPr>
          <a:xfrm>
            <a:off x="152400" y="3190875"/>
            <a:ext cx="8839200" cy="1976400"/>
          </a:xfrm>
          <a:prstGeom prst="rect">
            <a:avLst/>
          </a:prstGeom>
          <a:noFill/>
          <a:ln>
            <a:noFill/>
          </a:ln>
        </p:spPr>
      </p:pic>
      <p:sp>
        <p:nvSpPr>
          <p:cNvPr id="242" name="Google Shape;24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43" name="Google Shape;243;p31"/>
          <p:cNvSpPr/>
          <p:nvPr/>
        </p:nvSpPr>
        <p:spPr>
          <a:xfrm>
            <a:off x="4774400" y="1238375"/>
            <a:ext cx="482700" cy="163800"/>
          </a:xfrm>
          <a:prstGeom prst="roundRect">
            <a:avLst>
              <a:gd fmla="val 16667" name="adj"/>
            </a:avLst>
          </a:prstGeom>
          <a:noFill/>
          <a:ln cap="flat" cmpd="sng" w="381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300"/>
          </a:p>
        </p:txBody>
      </p:sp>
      <p:sp>
        <p:nvSpPr>
          <p:cNvPr id="244" name="Google Shape;244;p31"/>
          <p:cNvSpPr/>
          <p:nvPr/>
        </p:nvSpPr>
        <p:spPr>
          <a:xfrm>
            <a:off x="4774400" y="3463175"/>
            <a:ext cx="482700" cy="163800"/>
          </a:xfrm>
          <a:prstGeom prst="roundRect">
            <a:avLst>
              <a:gd fmla="val 16667" name="adj"/>
            </a:avLst>
          </a:prstGeom>
          <a:noFill/>
          <a:ln cap="flat" cmpd="sng" w="381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300"/>
          </a:p>
        </p:txBody>
      </p:sp>
      <p:sp>
        <p:nvSpPr>
          <p:cNvPr id="245" name="Google Shape;245;p31"/>
          <p:cNvSpPr/>
          <p:nvPr/>
        </p:nvSpPr>
        <p:spPr>
          <a:xfrm>
            <a:off x="4763050" y="1428275"/>
            <a:ext cx="520800" cy="163800"/>
          </a:xfrm>
          <a:prstGeom prst="roundRect">
            <a:avLst>
              <a:gd fmla="val 50000" name="adj"/>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8761D"/>
              </a:solidFill>
            </a:endParaRPr>
          </a:p>
        </p:txBody>
      </p:sp>
      <p:sp>
        <p:nvSpPr>
          <p:cNvPr id="246" name="Google Shape;246;p31"/>
          <p:cNvSpPr/>
          <p:nvPr/>
        </p:nvSpPr>
        <p:spPr>
          <a:xfrm>
            <a:off x="5818600" y="1428275"/>
            <a:ext cx="520800" cy="163800"/>
          </a:xfrm>
          <a:prstGeom prst="roundRect">
            <a:avLst>
              <a:gd fmla="val 50000" name="adj"/>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8761D"/>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0" name="Shape 250"/>
        <p:cNvGrpSpPr/>
        <p:nvPr/>
      </p:nvGrpSpPr>
      <p:grpSpPr>
        <a:xfrm>
          <a:off x="0" y="0"/>
          <a:ext cx="0" cy="0"/>
          <a:chOff x="0" y="0"/>
          <a:chExt cx="0" cy="0"/>
        </a:xfrm>
      </p:grpSpPr>
      <p:sp>
        <p:nvSpPr>
          <p:cNvPr id="251" name="Google Shape;251;p32"/>
          <p:cNvSpPr txBox="1"/>
          <p:nvPr>
            <p:ph type="title"/>
          </p:nvPr>
        </p:nvSpPr>
        <p:spPr>
          <a:xfrm>
            <a:off x="354625" y="0"/>
            <a:ext cx="8572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it" sz="2500"/>
              <a:t>Cross-Dataset Transfer Analysis</a:t>
            </a:r>
            <a:endParaRPr sz="2500"/>
          </a:p>
        </p:txBody>
      </p:sp>
      <p:grpSp>
        <p:nvGrpSpPr>
          <p:cNvPr id="252" name="Google Shape;252;p32"/>
          <p:cNvGrpSpPr/>
          <p:nvPr/>
        </p:nvGrpSpPr>
        <p:grpSpPr>
          <a:xfrm>
            <a:off x="261900" y="586350"/>
            <a:ext cx="4095900" cy="3619500"/>
            <a:chOff x="381000" y="718250"/>
            <a:chExt cx="4095900" cy="3619500"/>
          </a:xfrm>
        </p:grpSpPr>
        <p:sp>
          <p:nvSpPr>
            <p:cNvPr id="253" name="Google Shape;253;p32"/>
            <p:cNvSpPr/>
            <p:nvPr/>
          </p:nvSpPr>
          <p:spPr>
            <a:xfrm>
              <a:off x="381000" y="718250"/>
              <a:ext cx="4095900" cy="3619500"/>
            </a:xfrm>
            <a:prstGeom prst="roundRect">
              <a:avLst>
                <a:gd fmla="val 4210"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32"/>
            <p:cNvSpPr txBox="1"/>
            <p:nvPr/>
          </p:nvSpPr>
          <p:spPr>
            <a:xfrm>
              <a:off x="619200" y="1053600"/>
              <a:ext cx="3619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it" sz="2400">
                  <a:solidFill>
                    <a:srgbClr val="B45309"/>
                  </a:solidFill>
                  <a:latin typeface="Material Icons"/>
                  <a:ea typeface="Material Icons"/>
                  <a:cs typeface="Material Icons"/>
                  <a:sym typeface="Material Icons"/>
                </a:rPr>
                <a:t>nights_stay </a:t>
              </a:r>
              <a:r>
                <a:rPr b="1" i="0" lang="it" sz="1600">
                  <a:solidFill>
                    <a:schemeClr val="dk2"/>
                  </a:solidFill>
                  <a:latin typeface="Arial"/>
                  <a:ea typeface="Arial"/>
                  <a:cs typeface="Arial"/>
                  <a:sym typeface="Arial"/>
                </a:rPr>
                <a:t>C</a:t>
              </a:r>
              <a:r>
                <a:rPr b="1" lang="it" sz="1600">
                  <a:solidFill>
                    <a:schemeClr val="dk2"/>
                  </a:solidFill>
                  <a:latin typeface="Arial"/>
                  <a:ea typeface="Arial"/>
                  <a:cs typeface="Arial"/>
                  <a:sym typeface="Arial"/>
                </a:rPr>
                <a:t>ross</a:t>
              </a:r>
              <a:r>
                <a:rPr b="1" i="0" lang="it" sz="1600">
                  <a:solidFill>
                    <a:schemeClr val="dk2"/>
                  </a:solidFill>
                  <a:latin typeface="Arial"/>
                  <a:ea typeface="Arial"/>
                  <a:cs typeface="Arial"/>
                  <a:sym typeface="Arial"/>
                </a:rPr>
                <a:t>-I</a:t>
              </a:r>
              <a:r>
                <a:rPr b="1" lang="it" sz="1600">
                  <a:solidFill>
                    <a:schemeClr val="dk2"/>
                  </a:solidFill>
                  <a:latin typeface="Arial"/>
                  <a:ea typeface="Arial"/>
                  <a:cs typeface="Arial"/>
                  <a:sym typeface="Arial"/>
                </a:rPr>
                <a:t>llumination</a:t>
              </a:r>
              <a:r>
                <a:rPr b="1" i="0" lang="it" sz="1600">
                  <a:solidFill>
                    <a:schemeClr val="dk2"/>
                  </a:solidFill>
                  <a:latin typeface="Arial"/>
                  <a:ea typeface="Arial"/>
                  <a:cs typeface="Arial"/>
                  <a:sym typeface="Arial"/>
                </a:rPr>
                <a:t> T</a:t>
              </a:r>
              <a:r>
                <a:rPr b="1" lang="it" sz="1600">
                  <a:solidFill>
                    <a:schemeClr val="dk2"/>
                  </a:solidFill>
                  <a:latin typeface="Arial"/>
                  <a:ea typeface="Arial"/>
                  <a:cs typeface="Arial"/>
                  <a:sym typeface="Arial"/>
                </a:rPr>
                <a:t>ransfer</a:t>
              </a:r>
              <a:endParaRPr b="0" i="0" sz="2600">
                <a:solidFill>
                  <a:schemeClr val="dk2"/>
                </a:solidFill>
                <a:latin typeface="Material Icons"/>
                <a:ea typeface="Material Icons"/>
                <a:cs typeface="Material Icons"/>
                <a:sym typeface="Material Icons"/>
              </a:endParaRPr>
            </a:p>
          </p:txBody>
        </p:sp>
        <p:sp>
          <p:nvSpPr>
            <p:cNvPr id="255" name="Google Shape;255;p32"/>
            <p:cNvSpPr txBox="1"/>
            <p:nvPr/>
          </p:nvSpPr>
          <p:spPr>
            <a:xfrm>
              <a:off x="698325" y="1642825"/>
              <a:ext cx="3619500" cy="2556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i="0" lang="it" sz="1600">
                  <a:solidFill>
                    <a:schemeClr val="dk2"/>
                  </a:solidFill>
                  <a:latin typeface="Arial"/>
                  <a:ea typeface="Arial"/>
                  <a:cs typeface="Arial"/>
                  <a:sym typeface="Arial"/>
                </a:rPr>
                <a:t>SVOX Night Model ➔ deployed on SVOX Sun</a:t>
              </a:r>
              <a:endParaRPr b="1" i="0" sz="1600">
                <a:solidFill>
                  <a:schemeClr val="dk2"/>
                </a:solidFill>
                <a:latin typeface="Arial"/>
                <a:ea typeface="Arial"/>
                <a:cs typeface="Arial"/>
                <a:sym typeface="Arial"/>
              </a:endParaRPr>
            </a:p>
            <a:p>
              <a:pPr indent="0" lvl="0" marL="0" rtl="0" algn="l">
                <a:spcBef>
                  <a:spcPts val="1200"/>
                </a:spcBef>
                <a:spcAft>
                  <a:spcPts val="0"/>
                </a:spcAft>
                <a:buNone/>
              </a:pPr>
              <a:r>
                <a:rPr b="1" lang="it" sz="1600">
                  <a:solidFill>
                    <a:schemeClr val="dk2"/>
                  </a:solidFill>
                  <a:latin typeface="Arial"/>
                  <a:ea typeface="Arial"/>
                  <a:cs typeface="Arial"/>
                  <a:sym typeface="Arial"/>
                </a:rPr>
                <a:t>Excellent</a:t>
              </a:r>
              <a:r>
                <a:rPr b="1" i="0" lang="it" sz="1600">
                  <a:solidFill>
                    <a:schemeClr val="dk2"/>
                  </a:solidFill>
                  <a:latin typeface="Arial"/>
                  <a:ea typeface="Arial"/>
                  <a:cs typeface="Arial"/>
                  <a:sym typeface="Arial"/>
                </a:rPr>
                <a:t> Sigmoid Saturation</a:t>
              </a:r>
              <a:endParaRPr b="1" i="0" sz="1600">
                <a:solidFill>
                  <a:schemeClr val="dk2"/>
                </a:solidFill>
                <a:latin typeface="Arial"/>
                <a:ea typeface="Arial"/>
                <a:cs typeface="Arial"/>
                <a:sym typeface="Arial"/>
              </a:endParaRPr>
            </a:p>
            <a:p>
              <a:pPr indent="0" lvl="0" marL="0" rtl="0" algn="l">
                <a:spcBef>
                  <a:spcPts val="400"/>
                </a:spcBef>
                <a:spcAft>
                  <a:spcPts val="0"/>
                </a:spcAft>
                <a:buNone/>
              </a:pPr>
              <a:r>
                <a:rPr b="0" i="0" lang="it" sz="1300">
                  <a:solidFill>
                    <a:schemeClr val="dk2"/>
                  </a:solidFill>
                  <a:latin typeface="Arial"/>
                  <a:ea typeface="Arial"/>
                  <a:cs typeface="Arial"/>
                  <a:sym typeface="Arial"/>
                </a:rPr>
                <a:t>The highly conservative night-trained model instantly leverages daytime feature clarity.</a:t>
              </a:r>
              <a:endParaRPr b="0" i="0" sz="1300">
                <a:solidFill>
                  <a:schemeClr val="dk2"/>
                </a:solidFill>
                <a:latin typeface="Arial"/>
                <a:ea typeface="Arial"/>
                <a:cs typeface="Arial"/>
                <a:sym typeface="Arial"/>
              </a:endParaRPr>
            </a:p>
            <a:p>
              <a:pPr indent="0" lvl="0" marL="0" rtl="0" algn="l">
                <a:spcBef>
                  <a:spcPts val="1200"/>
                </a:spcBef>
                <a:spcAft>
                  <a:spcPts val="0"/>
                </a:spcAft>
                <a:buNone/>
              </a:pPr>
              <a:r>
                <a:rPr b="1" i="0" lang="it" sz="1600">
                  <a:solidFill>
                    <a:schemeClr val="dk2"/>
                  </a:solidFill>
                  <a:latin typeface="Arial"/>
                  <a:ea typeface="Arial"/>
                  <a:cs typeface="Arial"/>
                  <a:sym typeface="Arial"/>
                </a:rPr>
                <a:t>Efficiency &amp; Precision Boost</a:t>
              </a:r>
              <a:endParaRPr b="1" i="0" sz="1600">
                <a:solidFill>
                  <a:schemeClr val="dk2"/>
                </a:solidFill>
                <a:latin typeface="Arial"/>
                <a:ea typeface="Arial"/>
                <a:cs typeface="Arial"/>
                <a:sym typeface="Arial"/>
              </a:endParaRPr>
            </a:p>
            <a:p>
              <a:pPr indent="0" lvl="0" marL="0" rtl="0" algn="l">
                <a:spcBef>
                  <a:spcPts val="400"/>
                </a:spcBef>
                <a:spcAft>
                  <a:spcPts val="0"/>
                </a:spcAft>
                <a:buNone/>
              </a:pPr>
              <a:r>
                <a:rPr b="0" i="0" lang="it" sz="1300">
                  <a:solidFill>
                    <a:schemeClr val="dk2"/>
                  </a:solidFill>
                  <a:latin typeface="Arial"/>
                  <a:ea typeface="Arial"/>
                  <a:cs typeface="Arial"/>
                  <a:sym typeface="Arial"/>
                </a:rPr>
                <a:t>Achieves a massive 76.4% Early Exit rate while preserving a robust 0.89 Recall@1.</a:t>
              </a:r>
              <a:endParaRPr b="0" i="0" sz="1300">
                <a:solidFill>
                  <a:schemeClr val="dk2"/>
                </a:solidFill>
                <a:latin typeface="Arial"/>
                <a:ea typeface="Arial"/>
                <a:cs typeface="Arial"/>
                <a:sym typeface="Arial"/>
              </a:endParaRPr>
            </a:p>
            <a:p>
              <a:pPr indent="0" lvl="0" marL="0" rtl="0" algn="l">
                <a:spcBef>
                  <a:spcPts val="1500"/>
                </a:spcBef>
                <a:spcAft>
                  <a:spcPts val="0"/>
                </a:spcAft>
                <a:buNone/>
              </a:pPr>
              <a:r>
                <a:rPr b="1" i="0" lang="it" sz="1600">
                  <a:solidFill>
                    <a:srgbClr val="595959"/>
                  </a:solidFill>
                  <a:latin typeface="Arial"/>
                  <a:ea typeface="Arial"/>
                  <a:cs typeface="Arial"/>
                  <a:sym typeface="Arial"/>
                </a:rPr>
                <a:t>76.4% Early Exits</a:t>
              </a:r>
              <a:r>
                <a:rPr b="1" i="0" lang="it" sz="1500">
                  <a:solidFill>
                    <a:srgbClr val="1E293B"/>
                  </a:solidFill>
                  <a:latin typeface="Arial"/>
                  <a:ea typeface="Arial"/>
                  <a:cs typeface="Arial"/>
                  <a:sym typeface="Arial"/>
                </a:rPr>
                <a:t> ✅</a:t>
              </a:r>
              <a:endParaRPr b="1" i="0" sz="1500">
                <a:solidFill>
                  <a:srgbClr val="1E293B"/>
                </a:solidFill>
                <a:latin typeface="Arial"/>
                <a:ea typeface="Arial"/>
                <a:cs typeface="Arial"/>
                <a:sym typeface="Arial"/>
              </a:endParaRPr>
            </a:p>
          </p:txBody>
        </p:sp>
      </p:grpSp>
      <p:grpSp>
        <p:nvGrpSpPr>
          <p:cNvPr id="256" name="Google Shape;256;p32"/>
          <p:cNvGrpSpPr/>
          <p:nvPr/>
        </p:nvGrpSpPr>
        <p:grpSpPr>
          <a:xfrm>
            <a:off x="4442983" y="586351"/>
            <a:ext cx="4026956" cy="3619503"/>
            <a:chOff x="4667175" y="588260"/>
            <a:chExt cx="3961200" cy="3560400"/>
          </a:xfrm>
        </p:grpSpPr>
        <p:sp>
          <p:nvSpPr>
            <p:cNvPr id="257" name="Google Shape;257;p32"/>
            <p:cNvSpPr/>
            <p:nvPr/>
          </p:nvSpPr>
          <p:spPr>
            <a:xfrm>
              <a:off x="4667175" y="588260"/>
              <a:ext cx="3961200" cy="3560400"/>
            </a:xfrm>
            <a:prstGeom prst="roundRect">
              <a:avLst>
                <a:gd fmla="val 4210" name="adj"/>
              </a:avLst>
            </a:prstGeom>
            <a:solidFill>
              <a:srgbClr val="FFFFFF"/>
            </a:solidFill>
            <a:ln cap="flat" cmpd="sng" w="193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423"/>
            </a:p>
          </p:txBody>
        </p:sp>
        <p:sp>
          <p:nvSpPr>
            <p:cNvPr id="258" name="Google Shape;258;p32"/>
            <p:cNvSpPr txBox="1"/>
            <p:nvPr/>
          </p:nvSpPr>
          <p:spPr>
            <a:xfrm>
              <a:off x="4838030" y="883475"/>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it" sz="2440">
                  <a:solidFill>
                    <a:srgbClr val="B45309"/>
                  </a:solidFill>
                  <a:latin typeface="Material Icons"/>
                  <a:ea typeface="Material Icons"/>
                  <a:cs typeface="Material Icons"/>
                  <a:sym typeface="Material Icons"/>
                </a:rPr>
                <a:t>p</a:t>
              </a:r>
              <a:r>
                <a:rPr lang="it" sz="2440">
                  <a:solidFill>
                    <a:srgbClr val="B45309"/>
                  </a:solidFill>
                  <a:latin typeface="Material Icons"/>
                  <a:ea typeface="Material Icons"/>
                  <a:cs typeface="Material Icons"/>
                  <a:sym typeface="Material Icons"/>
                </a:rPr>
                <a:t>u</a:t>
              </a:r>
              <a:r>
                <a:rPr lang="it" sz="2440">
                  <a:solidFill>
                    <a:srgbClr val="B45309"/>
                  </a:solidFill>
                  <a:latin typeface="Material Icons"/>
                  <a:ea typeface="Material Icons"/>
                  <a:cs typeface="Material Icons"/>
                  <a:sym typeface="Material Icons"/>
                </a:rPr>
                <a:t>b</a:t>
              </a:r>
              <a:r>
                <a:rPr lang="it" sz="2440">
                  <a:solidFill>
                    <a:srgbClr val="B45309"/>
                  </a:solidFill>
                  <a:latin typeface="Material Icons"/>
                  <a:ea typeface="Material Icons"/>
                  <a:cs typeface="Material Icons"/>
                  <a:sym typeface="Material Icons"/>
                </a:rPr>
                <a:t>lic </a:t>
              </a:r>
              <a:r>
                <a:rPr b="1" lang="it" sz="1627">
                  <a:solidFill>
                    <a:srgbClr val="595959"/>
                  </a:solidFill>
                  <a:latin typeface="Arial"/>
                  <a:ea typeface="Arial"/>
                  <a:cs typeface="Arial"/>
                  <a:sym typeface="Arial"/>
                </a:rPr>
                <a:t>Zero-Shot G</a:t>
              </a:r>
              <a:r>
                <a:rPr b="1" lang="it" sz="1627">
                  <a:solidFill>
                    <a:srgbClr val="595959"/>
                  </a:solidFill>
                  <a:latin typeface="Arial"/>
                  <a:ea typeface="Arial"/>
                  <a:cs typeface="Arial"/>
                  <a:sym typeface="Arial"/>
                </a:rPr>
                <a:t>eographic</a:t>
              </a:r>
              <a:r>
                <a:rPr b="1" lang="it" sz="1627">
                  <a:solidFill>
                    <a:srgbClr val="595959"/>
                  </a:solidFill>
                  <a:latin typeface="Arial"/>
                  <a:ea typeface="Arial"/>
                  <a:cs typeface="Arial"/>
                  <a:sym typeface="Arial"/>
                </a:rPr>
                <a:t> T</a:t>
              </a:r>
              <a:r>
                <a:rPr b="1" lang="it" sz="1627">
                  <a:solidFill>
                    <a:srgbClr val="595959"/>
                  </a:solidFill>
                  <a:latin typeface="Arial"/>
                  <a:ea typeface="Arial"/>
                  <a:cs typeface="Arial"/>
                  <a:sym typeface="Arial"/>
                </a:rPr>
                <a:t>ransfer</a:t>
              </a:r>
              <a:endParaRPr sz="2643">
                <a:solidFill>
                  <a:srgbClr val="595959"/>
                </a:solidFill>
                <a:latin typeface="Material Icons"/>
                <a:ea typeface="Material Icons"/>
                <a:cs typeface="Material Icons"/>
                <a:sym typeface="Material Icons"/>
              </a:endParaRPr>
            </a:p>
          </p:txBody>
        </p:sp>
        <p:sp>
          <p:nvSpPr>
            <p:cNvPr id="259" name="Google Shape;259;p32"/>
            <p:cNvSpPr txBox="1"/>
            <p:nvPr/>
          </p:nvSpPr>
          <p:spPr>
            <a:xfrm>
              <a:off x="4698976" y="1513746"/>
              <a:ext cx="3897600" cy="263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it" sz="1627">
                  <a:solidFill>
                    <a:srgbClr val="595959"/>
                  </a:solidFill>
                  <a:latin typeface="Arial"/>
                  <a:ea typeface="Arial"/>
                  <a:cs typeface="Arial"/>
                  <a:sym typeface="Arial"/>
                </a:rPr>
                <a:t>Evaluation on Unseen Remote Environments</a:t>
              </a:r>
              <a:endParaRPr b="1" sz="1627">
                <a:solidFill>
                  <a:srgbClr val="595959"/>
                </a:solidFill>
                <a:latin typeface="Arial"/>
                <a:ea typeface="Arial"/>
                <a:cs typeface="Arial"/>
                <a:sym typeface="Arial"/>
              </a:endParaRPr>
            </a:p>
            <a:p>
              <a:pPr indent="0" lvl="0" marL="0" rtl="0" algn="l">
                <a:spcBef>
                  <a:spcPts val="1220"/>
                </a:spcBef>
                <a:spcAft>
                  <a:spcPts val="0"/>
                </a:spcAft>
                <a:buNone/>
              </a:pPr>
              <a:r>
                <a:rPr b="1" lang="it" sz="1627">
                  <a:solidFill>
                    <a:srgbClr val="595959"/>
                  </a:solidFill>
                  <a:latin typeface="Arial"/>
                  <a:ea typeface="Arial"/>
                  <a:cs typeface="Arial"/>
                  <a:sym typeface="Arial"/>
                </a:rPr>
                <a:t>Architectural Invariance</a:t>
              </a:r>
              <a:endParaRPr b="1" sz="1627">
                <a:solidFill>
                  <a:srgbClr val="595959"/>
                </a:solidFill>
                <a:latin typeface="Arial"/>
                <a:ea typeface="Arial"/>
                <a:cs typeface="Arial"/>
                <a:sym typeface="Arial"/>
              </a:endParaRPr>
            </a:p>
            <a:p>
              <a:pPr indent="0" lvl="0" marL="0" rtl="0" algn="l">
                <a:spcBef>
                  <a:spcPts val="407"/>
                </a:spcBef>
                <a:spcAft>
                  <a:spcPts val="0"/>
                </a:spcAft>
                <a:buNone/>
              </a:pPr>
              <a:r>
                <a:rPr lang="it" sz="1322">
                  <a:solidFill>
                    <a:schemeClr val="dk2"/>
                  </a:solidFill>
                  <a:latin typeface="Arial"/>
                  <a:ea typeface="Arial"/>
                  <a:cs typeface="Arial"/>
                  <a:sym typeface="Arial"/>
                </a:rPr>
                <a:t>The trained confidence boundaries generalize seamlessly to unmapped urban landscapes.</a:t>
              </a:r>
              <a:endParaRPr sz="1322">
                <a:solidFill>
                  <a:schemeClr val="dk2"/>
                </a:solidFill>
                <a:latin typeface="Arial"/>
                <a:ea typeface="Arial"/>
                <a:cs typeface="Arial"/>
                <a:sym typeface="Arial"/>
              </a:endParaRPr>
            </a:p>
            <a:p>
              <a:pPr indent="0" lvl="0" marL="0" rtl="0" algn="l">
                <a:spcBef>
                  <a:spcPts val="1220"/>
                </a:spcBef>
                <a:spcAft>
                  <a:spcPts val="0"/>
                </a:spcAft>
                <a:buNone/>
              </a:pPr>
              <a:r>
                <a:rPr b="1" lang="it" sz="1627">
                  <a:solidFill>
                    <a:srgbClr val="595959"/>
                  </a:solidFill>
                  <a:latin typeface="Arial"/>
                  <a:ea typeface="Arial"/>
                  <a:cs typeface="Arial"/>
                  <a:sym typeface="Arial"/>
                </a:rPr>
                <a:t>Fast-Path Routing Stability</a:t>
              </a:r>
              <a:endParaRPr b="1" sz="1627">
                <a:solidFill>
                  <a:srgbClr val="595959"/>
                </a:solidFill>
                <a:latin typeface="Arial"/>
                <a:ea typeface="Arial"/>
                <a:cs typeface="Arial"/>
                <a:sym typeface="Arial"/>
              </a:endParaRPr>
            </a:p>
            <a:p>
              <a:pPr indent="0" lvl="0" marL="0" rtl="0" algn="l">
                <a:spcBef>
                  <a:spcPts val="407"/>
                </a:spcBef>
                <a:spcAft>
                  <a:spcPts val="0"/>
                </a:spcAft>
                <a:buNone/>
              </a:pPr>
              <a:r>
                <a:rPr lang="it" sz="1322">
                  <a:solidFill>
                    <a:schemeClr val="dk2"/>
                  </a:solidFill>
                  <a:latin typeface="Arial"/>
                  <a:ea typeface="Arial"/>
                  <a:cs typeface="Arial"/>
                  <a:sym typeface="Arial"/>
                </a:rPr>
                <a:t>Safely isolates between 48.9% and 63.3% of easy queries on Tokyo and SF-XS.</a:t>
              </a:r>
              <a:endParaRPr sz="1322">
                <a:solidFill>
                  <a:schemeClr val="dk2"/>
                </a:solidFill>
                <a:latin typeface="Arial"/>
                <a:ea typeface="Arial"/>
                <a:cs typeface="Arial"/>
                <a:sym typeface="Arial"/>
              </a:endParaRPr>
            </a:p>
            <a:p>
              <a:pPr indent="0" lvl="0" marL="0" rtl="0" algn="l">
                <a:spcBef>
                  <a:spcPts val="1525"/>
                </a:spcBef>
                <a:spcAft>
                  <a:spcPts val="0"/>
                </a:spcAft>
                <a:buNone/>
              </a:pPr>
              <a:r>
                <a:rPr b="1" lang="it" sz="1623">
                  <a:solidFill>
                    <a:schemeClr val="dk2"/>
                  </a:solidFill>
                </a:rPr>
                <a:t>Inlier Count is a Universal Signal!</a:t>
              </a:r>
              <a:endParaRPr b="1" sz="1623">
                <a:solidFill>
                  <a:schemeClr val="dk2"/>
                </a:solidFill>
              </a:endParaRPr>
            </a:p>
          </p:txBody>
        </p:sp>
      </p:grpSp>
      <p:sp>
        <p:nvSpPr>
          <p:cNvPr id="260" name="Google Shape;26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267875" y="130050"/>
            <a:ext cx="7038900" cy="51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t" sz="2872"/>
              <a:t>Conclusion</a:t>
            </a:r>
            <a:r>
              <a:rPr lang="it" sz="2872"/>
              <a:t>: Three Key Contributions</a:t>
            </a:r>
            <a:endParaRPr sz="2872"/>
          </a:p>
          <a:p>
            <a:pPr indent="0" lvl="0" marL="0" rtl="0" algn="l">
              <a:spcBef>
                <a:spcPts val="0"/>
              </a:spcBef>
              <a:spcAft>
                <a:spcPts val="0"/>
              </a:spcAft>
              <a:buNone/>
            </a:pPr>
            <a:r>
              <a:t/>
            </a:r>
            <a:endParaRPr sz="2420"/>
          </a:p>
        </p:txBody>
      </p:sp>
      <p:graphicFrame>
        <p:nvGraphicFramePr>
          <p:cNvPr id="266" name="Google Shape;266;p33"/>
          <p:cNvGraphicFramePr/>
          <p:nvPr/>
        </p:nvGraphicFramePr>
        <p:xfrm>
          <a:off x="458625" y="776250"/>
          <a:ext cx="3000000" cy="3000000"/>
        </p:xfrm>
        <a:graphic>
          <a:graphicData uri="http://schemas.openxmlformats.org/drawingml/2006/table">
            <a:tbl>
              <a:tblPr>
                <a:noFill/>
                <a:tableStyleId>{3A53700C-794D-4932-B921-55B6E3AB20D6}</a:tableStyleId>
              </a:tblPr>
              <a:tblGrid>
                <a:gridCol w="2818125"/>
                <a:gridCol w="2818125"/>
                <a:gridCol w="2818125"/>
              </a:tblGrid>
              <a:tr h="2404050">
                <a:tc>
                  <a:txBody>
                    <a:bodyPr/>
                    <a:lstStyle/>
                    <a:p>
                      <a:pPr indent="0" lvl="0" marL="0" rtl="0" algn="l">
                        <a:spcBef>
                          <a:spcPts val="0"/>
                        </a:spcBef>
                        <a:spcAft>
                          <a:spcPts val="0"/>
                        </a:spcAft>
                        <a:buNone/>
                      </a:pPr>
                      <a:r>
                        <a:rPr b="1" lang="it" sz="1600">
                          <a:solidFill>
                            <a:schemeClr val="dk2"/>
                          </a:solidFill>
                        </a:rPr>
                        <a:t>1. Overcoming the Trade-off </a:t>
                      </a:r>
                      <a:endParaRPr b="1" sz="1600">
                        <a:solidFill>
                          <a:schemeClr val="dk2"/>
                        </a:solidFill>
                      </a:endParaRPr>
                    </a:p>
                    <a:p>
                      <a:pPr indent="0" lvl="0" marL="457200" rtl="0" algn="l">
                        <a:spcBef>
                          <a:spcPts val="0"/>
                        </a:spcBef>
                        <a:spcAft>
                          <a:spcPts val="0"/>
                        </a:spcAft>
                        <a:buNone/>
                      </a:pPr>
                      <a:r>
                        <a:t/>
                      </a:r>
                      <a:endParaRPr sz="1500">
                        <a:solidFill>
                          <a:schemeClr val="dk1"/>
                        </a:solidFill>
                        <a:latin typeface="Georgia"/>
                        <a:ea typeface="Georgia"/>
                        <a:cs typeface="Georgia"/>
                        <a:sym typeface="Georgia"/>
                      </a:endParaRPr>
                    </a:p>
                    <a:p>
                      <a:pPr indent="-323850" lvl="0" marL="457200" rtl="0" algn="l">
                        <a:spcBef>
                          <a:spcPts val="0"/>
                        </a:spcBef>
                        <a:spcAft>
                          <a:spcPts val="0"/>
                        </a:spcAft>
                        <a:buClr>
                          <a:schemeClr val="dk1"/>
                        </a:buClr>
                        <a:buSzPts val="1500"/>
                        <a:buFont typeface="Georgia"/>
                        <a:buChar char="●"/>
                      </a:pPr>
                      <a:r>
                        <a:rPr lang="it" sz="1600">
                          <a:solidFill>
                            <a:schemeClr val="dk2"/>
                          </a:solidFill>
                        </a:rPr>
                        <a:t>Selective geometric verification successfully bridges the gap between high localization accuracy and strict runtime latency constraints</a:t>
                      </a:r>
                      <a:r>
                        <a:rPr lang="it" sz="1500">
                          <a:solidFill>
                            <a:schemeClr val="dk1"/>
                          </a:solidFill>
                          <a:latin typeface="Georgia"/>
                          <a:ea typeface="Georgia"/>
                          <a:cs typeface="Georgia"/>
                          <a:sym typeface="Georgia"/>
                        </a:rPr>
                        <a:t> </a:t>
                      </a:r>
                      <a:endParaRPr sz="1500">
                        <a:solidFill>
                          <a:schemeClr val="dk1"/>
                        </a:solidFill>
                        <a:latin typeface="Georgia"/>
                        <a:ea typeface="Georgia"/>
                        <a:cs typeface="Georgia"/>
                        <a:sym typeface="Georgia"/>
                      </a:endParaRPr>
                    </a:p>
                    <a:p>
                      <a:pPr indent="-95250" lvl="0" marL="180000" rtl="0" algn="l">
                        <a:spcBef>
                          <a:spcPts val="0"/>
                        </a:spcBef>
                        <a:spcAft>
                          <a:spcPts val="0"/>
                        </a:spcAft>
                        <a:buNone/>
                      </a:pPr>
                      <a:r>
                        <a:t/>
                      </a:r>
                      <a:endParaRPr sz="1500">
                        <a:solidFill>
                          <a:schemeClr val="dk1"/>
                        </a:solidFill>
                        <a:latin typeface="Georgia"/>
                        <a:ea typeface="Georgia"/>
                        <a:cs typeface="Georgia"/>
                        <a:sym typeface="Georgia"/>
                      </a:endParaRPr>
                    </a:p>
                    <a:p>
                      <a:pPr indent="0" lvl="0" marL="457200" rtl="0" algn="l">
                        <a:spcBef>
                          <a:spcPts val="0"/>
                        </a:spcBef>
                        <a:spcAft>
                          <a:spcPts val="0"/>
                        </a:spcAft>
                        <a:buNone/>
                      </a:pPr>
                      <a:r>
                        <a:t/>
                      </a:r>
                      <a:endParaRPr sz="1500">
                        <a:solidFill>
                          <a:schemeClr val="dk1"/>
                        </a:solidFill>
                        <a:latin typeface="Georgia"/>
                        <a:ea typeface="Georgia"/>
                        <a:cs typeface="Georgia"/>
                        <a:sym typeface="Georgia"/>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it" sz="1600">
                          <a:solidFill>
                            <a:schemeClr val="dk2"/>
                          </a:solidFill>
                        </a:rPr>
                        <a:t>2. Massive Resource Pruning </a:t>
                      </a:r>
                      <a:endParaRPr b="1" sz="1600">
                        <a:solidFill>
                          <a:schemeClr val="dk2"/>
                        </a:solidFill>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p>
                      <a:pPr indent="-330200" lvl="0" marL="457200" rtl="0" algn="l">
                        <a:spcBef>
                          <a:spcPts val="0"/>
                        </a:spcBef>
                        <a:spcAft>
                          <a:spcPts val="0"/>
                        </a:spcAft>
                        <a:buClr>
                          <a:schemeClr val="dk2"/>
                        </a:buClr>
                        <a:buSzPts val="1600"/>
                        <a:buChar char="●"/>
                      </a:pPr>
                      <a:r>
                        <a:rPr lang="it" sz="1600">
                          <a:solidFill>
                            <a:schemeClr val="dk2"/>
                          </a:solidFill>
                        </a:rPr>
                        <a:t>Bypassing exhaustive matching for confident queries yields overall computational savings of up to 78% while fully preserving baseline Recall@1 metrics. </a:t>
                      </a:r>
                      <a:endParaRPr sz="1600">
                        <a:solidFill>
                          <a:schemeClr val="dk2"/>
                        </a:solidFill>
                      </a:endParaRPr>
                    </a:p>
                    <a:p>
                      <a:pPr indent="0" lvl="0" marL="457200" rtl="0" algn="l">
                        <a:spcBef>
                          <a:spcPts val="0"/>
                        </a:spcBef>
                        <a:spcAft>
                          <a:spcPts val="0"/>
                        </a:spcAft>
                        <a:buNone/>
                      </a:pPr>
                      <a:r>
                        <a:t/>
                      </a:r>
                      <a:endParaRPr sz="1500">
                        <a:solidFill>
                          <a:schemeClr val="dk1"/>
                        </a:solidFill>
                        <a:latin typeface="Georgia"/>
                        <a:ea typeface="Georgia"/>
                        <a:cs typeface="Georgia"/>
                        <a:sym typeface="Georgia"/>
                      </a:endParaRPr>
                    </a:p>
                    <a:p>
                      <a:pPr indent="0" lvl="0" marL="457200" rtl="0" algn="l">
                        <a:spcBef>
                          <a:spcPts val="0"/>
                        </a:spcBef>
                        <a:spcAft>
                          <a:spcPts val="0"/>
                        </a:spcAft>
                        <a:buNone/>
                      </a:pPr>
                      <a:r>
                        <a:t/>
                      </a:r>
                      <a:endParaRPr sz="1500">
                        <a:solidFill>
                          <a:schemeClr val="dk1"/>
                        </a:solidFill>
                        <a:latin typeface="Georgia"/>
                        <a:ea typeface="Georgia"/>
                        <a:cs typeface="Georgia"/>
                        <a:sym typeface="Georgia"/>
                      </a:endParaRPr>
                    </a:p>
                    <a:p>
                      <a:pPr indent="0" lvl="0" marL="457200" rtl="0" algn="l">
                        <a:spcBef>
                          <a:spcPts val="0"/>
                        </a:spcBef>
                        <a:spcAft>
                          <a:spcPts val="0"/>
                        </a:spcAft>
                        <a:buNone/>
                      </a:pPr>
                      <a:r>
                        <a:t/>
                      </a:r>
                      <a:endParaRPr sz="1500">
                        <a:solidFill>
                          <a:schemeClr val="dk1"/>
                        </a:solidFill>
                        <a:latin typeface="Georgia"/>
                        <a:ea typeface="Georgia"/>
                        <a:cs typeface="Georgia"/>
                        <a:sym typeface="Georgia"/>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it" sz="1600">
                          <a:solidFill>
                            <a:schemeClr val="dk2"/>
                          </a:solidFill>
                        </a:rPr>
                        <a:t>3. Universal Confidence Signal </a:t>
                      </a:r>
                      <a:endParaRPr b="1" sz="1600">
                        <a:solidFill>
                          <a:schemeClr val="dk2"/>
                        </a:solidFill>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p>
                      <a:pPr indent="-330200" lvl="0" marL="457200" rtl="0" algn="l">
                        <a:spcBef>
                          <a:spcPts val="0"/>
                        </a:spcBef>
                        <a:spcAft>
                          <a:spcPts val="0"/>
                        </a:spcAft>
                        <a:buClr>
                          <a:schemeClr val="dk2"/>
                        </a:buClr>
                        <a:buSzPts val="1600"/>
                        <a:buChar char="●"/>
                      </a:pPr>
                      <a:r>
                        <a:rPr lang="it" sz="1600">
                          <a:solidFill>
                            <a:schemeClr val="dk2"/>
                          </a:solidFill>
                        </a:rPr>
                        <a:t>Spatial inlier count on the top-1 retrieval candidate behaves as an environment-agnostic signature, highly robust to severe illumination and dataset shifts. </a:t>
                      </a:r>
                      <a:endParaRPr sz="1600">
                        <a:solidFill>
                          <a:schemeClr val="dk2"/>
                        </a:solidFill>
                      </a:endParaRPr>
                    </a:p>
                    <a:p>
                      <a:pPr indent="0" lvl="0" marL="457200" rtl="0" algn="l">
                        <a:spcBef>
                          <a:spcPts val="0"/>
                        </a:spcBef>
                        <a:spcAft>
                          <a:spcPts val="0"/>
                        </a:spcAft>
                        <a:buNone/>
                      </a:pPr>
                      <a:r>
                        <a:t/>
                      </a:r>
                      <a:endParaRPr sz="1500">
                        <a:solidFill>
                          <a:schemeClr val="dk1"/>
                        </a:solidFill>
                        <a:latin typeface="Georgia"/>
                        <a:ea typeface="Georgia"/>
                        <a:cs typeface="Georgia"/>
                        <a:sym typeface="Georgia"/>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67" name="Google Shape;267;p33"/>
          <p:cNvSpPr txBox="1"/>
          <p:nvPr/>
        </p:nvSpPr>
        <p:spPr>
          <a:xfrm>
            <a:off x="154375" y="2682125"/>
            <a:ext cx="3565800" cy="178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b="1" sz="2200">
              <a:solidFill>
                <a:schemeClr val="dk1"/>
              </a:solidFill>
            </a:endParaRPr>
          </a:p>
          <a:p>
            <a:pPr indent="0" lvl="0" marL="0" rtl="0" algn="l">
              <a:lnSpc>
                <a:spcPct val="100000"/>
              </a:lnSpc>
              <a:spcBef>
                <a:spcPts val="0"/>
              </a:spcBef>
              <a:spcAft>
                <a:spcPts val="0"/>
              </a:spcAft>
              <a:buNone/>
            </a:pPr>
            <a:r>
              <a:rPr b="1" lang="it" sz="3000">
                <a:solidFill>
                  <a:schemeClr val="dk1"/>
                </a:solidFill>
                <a:latin typeface="Georgia"/>
                <a:ea typeface="Georgia"/>
                <a:cs typeface="Georgia"/>
                <a:sym typeface="Georgia"/>
              </a:rPr>
              <a:t> </a:t>
            </a:r>
            <a:endParaRPr b="1" sz="2500">
              <a:solidFill>
                <a:schemeClr val="accent5"/>
              </a:solidFill>
            </a:endParaRPr>
          </a:p>
          <a:p>
            <a:pPr indent="0" lvl="0" marL="0" rtl="0" algn="l">
              <a:lnSpc>
                <a:spcPct val="100000"/>
              </a:lnSpc>
              <a:spcBef>
                <a:spcPts val="0"/>
              </a:spcBef>
              <a:spcAft>
                <a:spcPts val="0"/>
              </a:spcAft>
              <a:buNone/>
            </a:pPr>
            <a:r>
              <a:t/>
            </a:r>
            <a:endParaRPr b="1" sz="2200">
              <a:solidFill>
                <a:schemeClr val="dk1"/>
              </a:solidFill>
            </a:endParaRPr>
          </a:p>
          <a:p>
            <a:pPr indent="-317500" lvl="0" marL="457200" rtl="0" algn="l">
              <a:lnSpc>
                <a:spcPct val="115000"/>
              </a:lnSpc>
              <a:spcBef>
                <a:spcPts val="0"/>
              </a:spcBef>
              <a:spcAft>
                <a:spcPts val="0"/>
              </a:spcAft>
              <a:buSzPts val="1400"/>
              <a:buChar char="●"/>
            </a:pPr>
            <a:r>
              <a:rPr lang="it" sz="1600">
                <a:solidFill>
                  <a:schemeClr val="dk2"/>
                </a:solidFill>
              </a:rPr>
              <a:t>Hyper-Efficient Matchers</a:t>
            </a:r>
            <a:r>
              <a:rPr b="1" lang="it" sz="1800">
                <a:solidFill>
                  <a:schemeClr val="dk1"/>
                </a:solidFill>
              </a:rPr>
              <a:t> </a:t>
            </a:r>
            <a:r>
              <a:rPr b="1" lang="it" sz="1800">
                <a:solidFill>
                  <a:schemeClr val="dk2"/>
                </a:solidFill>
              </a:rPr>
              <a:t>	</a:t>
            </a:r>
            <a:endParaRPr b="1" sz="1500">
              <a:solidFill>
                <a:schemeClr val="dk2"/>
              </a:solidFill>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p:txBody>
      </p:sp>
      <p:sp>
        <p:nvSpPr>
          <p:cNvPr id="268" name="Google Shape;268;p33"/>
          <p:cNvSpPr txBox="1"/>
          <p:nvPr/>
        </p:nvSpPr>
        <p:spPr>
          <a:xfrm>
            <a:off x="3164275" y="3116625"/>
            <a:ext cx="3565800" cy="202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b="1" sz="2200">
              <a:solidFill>
                <a:schemeClr val="dk1"/>
              </a:solidFill>
            </a:endParaRPr>
          </a:p>
          <a:p>
            <a:pPr indent="0" lvl="0" marL="0" rtl="0" algn="l">
              <a:lnSpc>
                <a:spcPct val="100000"/>
              </a:lnSpc>
              <a:spcBef>
                <a:spcPts val="0"/>
              </a:spcBef>
              <a:spcAft>
                <a:spcPts val="0"/>
              </a:spcAft>
              <a:buNone/>
            </a:pPr>
            <a:r>
              <a:t/>
            </a:r>
            <a:endParaRPr b="1" sz="2200">
              <a:solidFill>
                <a:schemeClr val="dk1"/>
              </a:solidFill>
            </a:endParaRPr>
          </a:p>
          <a:p>
            <a:pPr indent="-317500" lvl="0" marL="457200" rtl="0" algn="l">
              <a:lnSpc>
                <a:spcPct val="115000"/>
              </a:lnSpc>
              <a:spcBef>
                <a:spcPts val="0"/>
              </a:spcBef>
              <a:spcAft>
                <a:spcPts val="0"/>
              </a:spcAft>
              <a:buSzPts val="1400"/>
              <a:buChar char="●"/>
            </a:pPr>
            <a:r>
              <a:rPr lang="it" sz="1600">
                <a:solidFill>
                  <a:schemeClr val="dk2"/>
                </a:solidFill>
              </a:rPr>
              <a:t>Richer Spatial Metrics</a:t>
            </a:r>
            <a:r>
              <a:rPr b="1" lang="it" sz="1800">
                <a:solidFill>
                  <a:schemeClr val="dk2"/>
                </a:solidFill>
              </a:rPr>
              <a:t> </a:t>
            </a:r>
            <a:r>
              <a:rPr b="1" lang="it" sz="1800">
                <a:solidFill>
                  <a:schemeClr val="dk1"/>
                </a:solidFill>
              </a:rPr>
              <a:t> </a:t>
            </a:r>
            <a:r>
              <a:rPr b="1" lang="it" sz="1800">
                <a:solidFill>
                  <a:schemeClr val="dk2"/>
                </a:solidFill>
              </a:rPr>
              <a:t>	</a:t>
            </a:r>
            <a:endParaRPr b="1" sz="1500">
              <a:solidFill>
                <a:schemeClr val="dk2"/>
              </a:solidFill>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p:txBody>
      </p:sp>
      <p:sp>
        <p:nvSpPr>
          <p:cNvPr id="269" name="Google Shape;269;p33"/>
          <p:cNvSpPr txBox="1"/>
          <p:nvPr/>
        </p:nvSpPr>
        <p:spPr>
          <a:xfrm>
            <a:off x="5988950" y="3116625"/>
            <a:ext cx="3565800" cy="140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b="1" sz="2200">
              <a:solidFill>
                <a:schemeClr val="dk1"/>
              </a:solidFill>
            </a:endParaRPr>
          </a:p>
          <a:p>
            <a:pPr indent="0" lvl="0" marL="0" rtl="0" algn="l">
              <a:lnSpc>
                <a:spcPct val="100000"/>
              </a:lnSpc>
              <a:spcBef>
                <a:spcPts val="0"/>
              </a:spcBef>
              <a:spcAft>
                <a:spcPts val="0"/>
              </a:spcAft>
              <a:buNone/>
            </a:pPr>
            <a:r>
              <a:t/>
            </a:r>
            <a:endParaRPr b="1" sz="2200">
              <a:solidFill>
                <a:schemeClr val="dk1"/>
              </a:solidFill>
            </a:endParaRPr>
          </a:p>
          <a:p>
            <a:pPr indent="-317500" lvl="0" marL="457200" rtl="0" algn="l">
              <a:lnSpc>
                <a:spcPct val="115000"/>
              </a:lnSpc>
              <a:spcBef>
                <a:spcPts val="0"/>
              </a:spcBef>
              <a:spcAft>
                <a:spcPts val="0"/>
              </a:spcAft>
              <a:buSzPts val="1400"/>
              <a:buChar char="●"/>
            </a:pPr>
            <a:r>
              <a:rPr lang="it" sz="1600">
                <a:solidFill>
                  <a:schemeClr val="dk2"/>
                </a:solidFill>
              </a:rPr>
              <a:t>Single-Stage Uncertainty</a:t>
            </a:r>
            <a:r>
              <a:rPr b="1" lang="it" sz="1500">
                <a:solidFill>
                  <a:schemeClr val="dk2"/>
                </a:solidFill>
              </a:rPr>
              <a:t> </a:t>
            </a:r>
            <a:r>
              <a:rPr b="1" lang="it" sz="1800">
                <a:solidFill>
                  <a:schemeClr val="dk2"/>
                </a:solidFill>
              </a:rPr>
              <a:t> </a:t>
            </a:r>
            <a:r>
              <a:rPr b="1" lang="it" sz="1800">
                <a:solidFill>
                  <a:schemeClr val="dk1"/>
                </a:solidFill>
              </a:rPr>
              <a:t> </a:t>
            </a:r>
            <a:r>
              <a:rPr b="1" lang="it" sz="1800">
                <a:solidFill>
                  <a:schemeClr val="dk2"/>
                </a:solidFill>
              </a:rPr>
              <a:t>	</a:t>
            </a:r>
            <a:endParaRPr b="1" sz="1500">
              <a:solidFill>
                <a:schemeClr val="dk2"/>
              </a:solidFill>
            </a:endParaRPr>
          </a:p>
          <a:p>
            <a:pPr indent="0" lvl="0" marL="0" rtl="0" algn="l">
              <a:spcBef>
                <a:spcPts val="0"/>
              </a:spcBef>
              <a:spcAft>
                <a:spcPts val="0"/>
              </a:spcAft>
              <a:buNone/>
            </a:pPr>
            <a:r>
              <a:t/>
            </a:r>
            <a:endParaRPr sz="1500">
              <a:solidFill>
                <a:schemeClr val="dk1"/>
              </a:solidFill>
              <a:latin typeface="Georgia"/>
              <a:ea typeface="Georgia"/>
              <a:cs typeface="Georgia"/>
              <a:sym typeface="Georgia"/>
            </a:endParaRPr>
          </a:p>
        </p:txBody>
      </p:sp>
      <p:sp>
        <p:nvSpPr>
          <p:cNvPr id="270" name="Google Shape;270;p33"/>
          <p:cNvSpPr txBox="1"/>
          <p:nvPr/>
        </p:nvSpPr>
        <p:spPr>
          <a:xfrm>
            <a:off x="364675" y="3339725"/>
            <a:ext cx="2350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2500">
                <a:solidFill>
                  <a:schemeClr val="accent5"/>
                </a:solidFill>
              </a:rPr>
              <a:t>Future Works:</a:t>
            </a:r>
            <a:endParaRPr sz="1800">
              <a:solidFill>
                <a:schemeClr val="dk2"/>
              </a:solidFill>
            </a:endParaRPr>
          </a:p>
        </p:txBody>
      </p:sp>
      <p:sp>
        <p:nvSpPr>
          <p:cNvPr id="271" name="Google Shape;27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 name="Shape 275"/>
        <p:cNvGrpSpPr/>
        <p:nvPr/>
      </p:nvGrpSpPr>
      <p:grpSpPr>
        <a:xfrm>
          <a:off x="0" y="0"/>
          <a:ext cx="0" cy="0"/>
          <a:chOff x="0" y="0"/>
          <a:chExt cx="0" cy="0"/>
        </a:xfrm>
      </p:grpSpPr>
      <p:sp>
        <p:nvSpPr>
          <p:cNvPr id="276" name="Google Shape;276;p34"/>
          <p:cNvSpPr txBox="1"/>
          <p:nvPr>
            <p:ph idx="1" type="body"/>
          </p:nvPr>
        </p:nvSpPr>
        <p:spPr>
          <a:xfrm>
            <a:off x="1052550" y="1116150"/>
            <a:ext cx="7038900" cy="29112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it" sz="6000">
                <a:solidFill>
                  <a:schemeClr val="accent5"/>
                </a:solidFill>
              </a:rPr>
              <a:t>THANK YOU!</a:t>
            </a:r>
            <a:endParaRPr sz="6000">
              <a:solidFill>
                <a:schemeClr val="accent5"/>
              </a:solidFill>
            </a:endParaRPr>
          </a:p>
        </p:txBody>
      </p:sp>
      <p:sp>
        <p:nvSpPr>
          <p:cNvPr id="277" name="Google Shape;27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li">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